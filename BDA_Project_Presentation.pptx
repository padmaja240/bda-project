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9"/>
  </p:notesMasterIdLst>
  <p:handoutMasterIdLst>
    <p:handoutMasterId r:id="rId20"/>
  </p:handoutMasterIdLst>
  <p:sldIdLst>
    <p:sldId id="312" r:id="rId5"/>
    <p:sldId id="304" r:id="rId6"/>
    <p:sldId id="307" r:id="rId7"/>
    <p:sldId id="323" r:id="rId8"/>
    <p:sldId id="322" r:id="rId9"/>
    <p:sldId id="321" r:id="rId10"/>
    <p:sldId id="281" r:id="rId11"/>
    <p:sldId id="320" r:id="rId12"/>
    <p:sldId id="282" r:id="rId13"/>
    <p:sldId id="319" r:id="rId14"/>
    <p:sldId id="324" r:id="rId15"/>
    <p:sldId id="325" r:id="rId16"/>
    <p:sldId id="326" r:id="rId17"/>
    <p:sldId id="297" r:id="rId18"/>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varScale="1">
        <p:scale>
          <a:sx n="59" d="100"/>
          <a:sy n="59" d="100"/>
        </p:scale>
        <p:origin x="964" y="5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16F197-7D0F-4862-B832-91C132A9FFD5}" type="doc">
      <dgm:prSet loTypeId="urn:microsoft.com/office/officeart/2005/8/layout/process3" loCatId="process" qsTypeId="urn:microsoft.com/office/officeart/2005/8/quickstyle/simple1" qsCatId="simple" csTypeId="urn:microsoft.com/office/officeart/2005/8/colors/colorful2" csCatId="colorful" phldr="1"/>
      <dgm:spPr/>
      <dgm:t>
        <a:bodyPr/>
        <a:lstStyle/>
        <a:p>
          <a:endParaRPr lang="en-IN"/>
        </a:p>
      </dgm:t>
    </dgm:pt>
    <dgm:pt modelId="{7C65E96E-7213-4F62-B4FB-E3A00A26DA3E}">
      <dgm:prSet phldrT="[Text]"/>
      <dgm:spPr/>
      <dgm:t>
        <a:bodyPr/>
        <a:lstStyle/>
        <a:p>
          <a:pPr>
            <a:buNone/>
          </a:pPr>
          <a:r>
            <a:rPr lang="en-IN" dirty="0">
              <a:solidFill>
                <a:schemeClr val="tx1"/>
              </a:solidFill>
            </a:rPr>
            <a:t>Data collection</a:t>
          </a:r>
        </a:p>
      </dgm:t>
    </dgm:pt>
    <dgm:pt modelId="{843EB1BA-A82F-439F-A4AA-7E98569ECE09}" type="parTrans" cxnId="{400E1691-5B57-49DE-8BCC-94806C5F225A}">
      <dgm:prSet/>
      <dgm:spPr/>
      <dgm:t>
        <a:bodyPr/>
        <a:lstStyle/>
        <a:p>
          <a:endParaRPr lang="en-IN"/>
        </a:p>
      </dgm:t>
    </dgm:pt>
    <dgm:pt modelId="{6E3B761A-F73F-4E7A-87B4-501FA553130B}" type="sibTrans" cxnId="{400E1691-5B57-49DE-8BCC-94806C5F225A}">
      <dgm:prSet/>
      <dgm:spPr/>
      <dgm:t>
        <a:bodyPr/>
        <a:lstStyle/>
        <a:p>
          <a:endParaRPr lang="en-IN"/>
        </a:p>
      </dgm:t>
    </dgm:pt>
    <dgm:pt modelId="{450E8FAF-24BC-4D44-9428-013B017E279C}">
      <dgm:prSet phldrT="[Text]"/>
      <dgm:spPr/>
      <dgm:t>
        <a:bodyPr/>
        <a:lstStyle/>
        <a:p>
          <a:pPr>
            <a:buNone/>
          </a:pPr>
          <a:r>
            <a:rPr lang="en-US" dirty="0"/>
            <a:t>Customer transaction data is collected from structured datasets representing real-world purchasing behavior.</a:t>
          </a:r>
          <a:endParaRPr lang="en-IN" dirty="0"/>
        </a:p>
      </dgm:t>
    </dgm:pt>
    <dgm:pt modelId="{683D1C2E-EBEA-490E-A9D3-CAE86989BBBA}" type="parTrans" cxnId="{19BBAA17-04EA-409F-B719-9586A006232F}">
      <dgm:prSet/>
      <dgm:spPr/>
      <dgm:t>
        <a:bodyPr/>
        <a:lstStyle/>
        <a:p>
          <a:endParaRPr lang="en-IN"/>
        </a:p>
      </dgm:t>
    </dgm:pt>
    <dgm:pt modelId="{C0AD4E68-D2F5-42A8-A16C-E954CC43980B}" type="sibTrans" cxnId="{19BBAA17-04EA-409F-B719-9586A006232F}">
      <dgm:prSet/>
      <dgm:spPr/>
      <dgm:t>
        <a:bodyPr/>
        <a:lstStyle/>
        <a:p>
          <a:endParaRPr lang="en-IN"/>
        </a:p>
      </dgm:t>
    </dgm:pt>
    <dgm:pt modelId="{9B8DDAB5-BE68-48B8-9816-1DF5F6FED43D}">
      <dgm:prSet phldrT="[Text]"/>
      <dgm:spPr/>
      <dgm:t>
        <a:bodyPr/>
        <a:lstStyle/>
        <a:p>
          <a:pPr>
            <a:buNone/>
          </a:pPr>
          <a:r>
            <a:rPr lang="en-IN" dirty="0">
              <a:solidFill>
                <a:schemeClr val="tx1"/>
              </a:solidFill>
            </a:rPr>
            <a:t>Data analytics using Python</a:t>
          </a:r>
        </a:p>
      </dgm:t>
    </dgm:pt>
    <dgm:pt modelId="{87E62274-8C84-4914-815A-9E802E379AE8}" type="parTrans" cxnId="{5FDD88EA-666E-46C6-BDCF-74C105C2DE13}">
      <dgm:prSet/>
      <dgm:spPr/>
      <dgm:t>
        <a:bodyPr/>
        <a:lstStyle/>
        <a:p>
          <a:endParaRPr lang="en-IN"/>
        </a:p>
      </dgm:t>
    </dgm:pt>
    <dgm:pt modelId="{7DC60BF5-0BFA-4F2B-8A3B-E0E8203F66A4}" type="sibTrans" cxnId="{5FDD88EA-666E-46C6-BDCF-74C105C2DE13}">
      <dgm:prSet/>
      <dgm:spPr/>
      <dgm:t>
        <a:bodyPr/>
        <a:lstStyle/>
        <a:p>
          <a:endParaRPr lang="en-IN"/>
        </a:p>
      </dgm:t>
    </dgm:pt>
    <dgm:pt modelId="{9EF9123B-2F70-43C1-9E4C-506BD7F3ADDA}">
      <dgm:prSet phldrT="[Text]"/>
      <dgm:spPr/>
      <dgm:t>
        <a:bodyPr/>
        <a:lstStyle/>
        <a:p>
          <a:pPr>
            <a:buNone/>
          </a:pPr>
          <a:r>
            <a:rPr lang="en-US" dirty="0"/>
            <a:t>The collected data is analyzed in </a:t>
          </a:r>
          <a:r>
            <a:rPr lang="en-US" b="1" dirty="0"/>
            <a:t>Google </a:t>
          </a:r>
          <a:r>
            <a:rPr lang="en-US" b="1" dirty="0" err="1"/>
            <a:t>Colab</a:t>
          </a:r>
          <a:r>
            <a:rPr lang="en-US" b="1" dirty="0"/>
            <a:t> using Python </a:t>
          </a:r>
          <a:r>
            <a:rPr lang="en-US" dirty="0"/>
            <a:t>libraries to perform data cleaning, exploratory analysis.</a:t>
          </a:r>
          <a:endParaRPr lang="en-IN" dirty="0"/>
        </a:p>
      </dgm:t>
    </dgm:pt>
    <dgm:pt modelId="{01270675-766E-4228-B0E6-CCA4FEDC805C}" type="parTrans" cxnId="{421C60BD-92FE-4A23-959E-B25E840F7206}">
      <dgm:prSet/>
      <dgm:spPr/>
      <dgm:t>
        <a:bodyPr/>
        <a:lstStyle/>
        <a:p>
          <a:endParaRPr lang="en-IN"/>
        </a:p>
      </dgm:t>
    </dgm:pt>
    <dgm:pt modelId="{B404E946-ED57-487B-8764-DD530C285481}" type="sibTrans" cxnId="{421C60BD-92FE-4A23-959E-B25E840F7206}">
      <dgm:prSet/>
      <dgm:spPr/>
      <dgm:t>
        <a:bodyPr/>
        <a:lstStyle/>
        <a:p>
          <a:endParaRPr lang="en-IN"/>
        </a:p>
      </dgm:t>
    </dgm:pt>
    <dgm:pt modelId="{4BC1AC1D-B7B4-4E8C-B180-6AE4306B438B}">
      <dgm:prSet phldrT="[Text]"/>
      <dgm:spPr/>
      <dgm:t>
        <a:bodyPr/>
        <a:lstStyle/>
        <a:p>
          <a:pPr>
            <a:buNone/>
          </a:pPr>
          <a:r>
            <a:rPr lang="en-IN" dirty="0">
              <a:solidFill>
                <a:schemeClr val="tx1"/>
              </a:solidFill>
            </a:rPr>
            <a:t>Customer </a:t>
          </a:r>
          <a:r>
            <a:rPr lang="en-IN" dirty="0" err="1">
              <a:solidFill>
                <a:schemeClr val="tx1"/>
              </a:solidFill>
            </a:rPr>
            <a:t>segementation</a:t>
          </a:r>
          <a:endParaRPr lang="en-IN" dirty="0">
            <a:solidFill>
              <a:schemeClr val="tx1"/>
            </a:solidFill>
          </a:endParaRPr>
        </a:p>
      </dgm:t>
    </dgm:pt>
    <dgm:pt modelId="{C0DE6028-468C-47E8-A035-D9254173D091}" type="parTrans" cxnId="{71CE4168-539D-4CEC-B4B7-8DBDD3952B24}">
      <dgm:prSet/>
      <dgm:spPr/>
      <dgm:t>
        <a:bodyPr/>
        <a:lstStyle/>
        <a:p>
          <a:endParaRPr lang="en-IN"/>
        </a:p>
      </dgm:t>
    </dgm:pt>
    <dgm:pt modelId="{7E8A6730-A577-4298-9A47-F1E2B01718B3}" type="sibTrans" cxnId="{71CE4168-539D-4CEC-B4B7-8DBDD3952B24}">
      <dgm:prSet/>
      <dgm:spPr/>
      <dgm:t>
        <a:bodyPr/>
        <a:lstStyle/>
        <a:p>
          <a:endParaRPr lang="en-IN"/>
        </a:p>
      </dgm:t>
    </dgm:pt>
    <dgm:pt modelId="{BD72D1DC-16DA-453C-83CD-237FE032D5C5}">
      <dgm:prSet phldrT="[Text]"/>
      <dgm:spPr/>
      <dgm:t>
        <a:bodyPr/>
        <a:lstStyle/>
        <a:p>
          <a:pPr>
            <a:buNone/>
          </a:pPr>
          <a:r>
            <a:rPr lang="en-US" dirty="0"/>
            <a:t>Customers are divided into groups based on their buying behavior, purchase frequency, and preferences to enable better analysis and targeted strategies.</a:t>
          </a:r>
          <a:endParaRPr lang="en-IN" dirty="0"/>
        </a:p>
      </dgm:t>
    </dgm:pt>
    <dgm:pt modelId="{4C3F265B-65B5-43D5-A7D0-AF793805A877}" type="parTrans" cxnId="{71533BB2-C299-48F7-9C60-87FF7E664C15}">
      <dgm:prSet/>
      <dgm:spPr/>
      <dgm:t>
        <a:bodyPr/>
        <a:lstStyle/>
        <a:p>
          <a:endParaRPr lang="en-IN"/>
        </a:p>
      </dgm:t>
    </dgm:pt>
    <dgm:pt modelId="{A48A0CA0-1BA1-4046-B230-19FA0C7B9401}" type="sibTrans" cxnId="{71533BB2-C299-48F7-9C60-87FF7E664C15}">
      <dgm:prSet/>
      <dgm:spPr/>
      <dgm:t>
        <a:bodyPr/>
        <a:lstStyle/>
        <a:p>
          <a:endParaRPr lang="en-IN"/>
        </a:p>
      </dgm:t>
    </dgm:pt>
    <dgm:pt modelId="{F9C82C00-7967-4DC8-8374-EBD036D16207}">
      <dgm:prSet phldrT="[Text]" phldr="0"/>
      <dgm:spPr/>
      <dgm:t>
        <a:bodyPr/>
        <a:lstStyle/>
        <a:p>
          <a:pPr>
            <a:buNone/>
          </a:pPr>
          <a:r>
            <a:rPr lang="en-IN" dirty="0">
              <a:solidFill>
                <a:schemeClr val="tx1"/>
              </a:solidFill>
            </a:rPr>
            <a:t>Visualization &amp; insights</a:t>
          </a:r>
        </a:p>
      </dgm:t>
    </dgm:pt>
    <dgm:pt modelId="{C52DDCB6-8A21-49FB-81D4-598935B94FFB}" type="parTrans" cxnId="{78736804-24E9-4D27-99C1-906326AF3944}">
      <dgm:prSet/>
      <dgm:spPr/>
      <dgm:t>
        <a:bodyPr/>
        <a:lstStyle/>
        <a:p>
          <a:endParaRPr lang="en-IN"/>
        </a:p>
      </dgm:t>
    </dgm:pt>
    <dgm:pt modelId="{4AE9667D-ACCE-4E6E-B4D0-A1EBFE689ACC}" type="sibTrans" cxnId="{78736804-24E9-4D27-99C1-906326AF3944}">
      <dgm:prSet/>
      <dgm:spPr/>
      <dgm:t>
        <a:bodyPr/>
        <a:lstStyle/>
        <a:p>
          <a:endParaRPr lang="en-IN"/>
        </a:p>
      </dgm:t>
    </dgm:pt>
    <dgm:pt modelId="{E80E6952-C094-4F23-A7DC-0FD8B9190790}">
      <dgm:prSet phldrT="[Text]" phldr="0"/>
      <dgm:spPr/>
      <dgm:t>
        <a:bodyPr/>
        <a:lstStyle/>
        <a:p>
          <a:pPr>
            <a:buNone/>
          </a:pPr>
          <a:r>
            <a:rPr lang="en-US" b="1" dirty="0"/>
            <a:t>Power BI </a:t>
          </a:r>
          <a:r>
            <a:rPr lang="en-US" dirty="0"/>
            <a:t>is used to create interactive dashboards that visualize customer behavior patterns and support business decision-making.</a:t>
          </a:r>
          <a:endParaRPr lang="en-IN" dirty="0">
            <a:solidFill>
              <a:schemeClr val="tx1"/>
            </a:solidFill>
          </a:endParaRPr>
        </a:p>
      </dgm:t>
    </dgm:pt>
    <dgm:pt modelId="{3A19281C-0013-491F-B1CF-B1FBFA0880D0}" type="parTrans" cxnId="{A4AEDE5C-71D7-4370-8906-E215872D36A5}">
      <dgm:prSet/>
      <dgm:spPr/>
      <dgm:t>
        <a:bodyPr/>
        <a:lstStyle/>
        <a:p>
          <a:endParaRPr lang="en-IN"/>
        </a:p>
      </dgm:t>
    </dgm:pt>
    <dgm:pt modelId="{B4F6F217-9973-4005-9725-7B87573B30A0}" type="sibTrans" cxnId="{A4AEDE5C-71D7-4370-8906-E215872D36A5}">
      <dgm:prSet/>
      <dgm:spPr/>
      <dgm:t>
        <a:bodyPr/>
        <a:lstStyle/>
        <a:p>
          <a:endParaRPr lang="en-IN"/>
        </a:p>
      </dgm:t>
    </dgm:pt>
    <dgm:pt modelId="{320C3D69-55D9-4C0A-B8A5-E98640FC243D}" type="pres">
      <dgm:prSet presAssocID="{F716F197-7D0F-4862-B832-91C132A9FFD5}" presName="linearFlow" presStyleCnt="0">
        <dgm:presLayoutVars>
          <dgm:dir/>
          <dgm:animLvl val="lvl"/>
          <dgm:resizeHandles val="exact"/>
        </dgm:presLayoutVars>
      </dgm:prSet>
      <dgm:spPr/>
    </dgm:pt>
    <dgm:pt modelId="{355CE8F2-C03D-4660-A36E-DB38DEE685B8}" type="pres">
      <dgm:prSet presAssocID="{7C65E96E-7213-4F62-B4FB-E3A00A26DA3E}" presName="composite" presStyleCnt="0"/>
      <dgm:spPr/>
    </dgm:pt>
    <dgm:pt modelId="{0D28CA59-2E38-466F-B5EB-661A8004F9B7}" type="pres">
      <dgm:prSet presAssocID="{7C65E96E-7213-4F62-B4FB-E3A00A26DA3E}" presName="parTx" presStyleLbl="node1" presStyleIdx="0" presStyleCnt="4">
        <dgm:presLayoutVars>
          <dgm:chMax val="0"/>
          <dgm:chPref val="0"/>
          <dgm:bulletEnabled val="1"/>
        </dgm:presLayoutVars>
      </dgm:prSet>
      <dgm:spPr/>
    </dgm:pt>
    <dgm:pt modelId="{270FDEAA-A3E8-4D82-86C7-4B23AA507EF4}" type="pres">
      <dgm:prSet presAssocID="{7C65E96E-7213-4F62-B4FB-E3A00A26DA3E}" presName="parSh" presStyleLbl="node1" presStyleIdx="0" presStyleCnt="4"/>
      <dgm:spPr/>
    </dgm:pt>
    <dgm:pt modelId="{91A1B70A-E66A-4A1E-94AF-8ECEDA4FCD7E}" type="pres">
      <dgm:prSet presAssocID="{7C65E96E-7213-4F62-B4FB-E3A00A26DA3E}" presName="desTx" presStyleLbl="fgAcc1" presStyleIdx="0" presStyleCnt="4">
        <dgm:presLayoutVars>
          <dgm:bulletEnabled val="1"/>
        </dgm:presLayoutVars>
      </dgm:prSet>
      <dgm:spPr/>
    </dgm:pt>
    <dgm:pt modelId="{C8656852-8182-409B-87AC-5F1A5791A8B1}" type="pres">
      <dgm:prSet presAssocID="{6E3B761A-F73F-4E7A-87B4-501FA553130B}" presName="sibTrans" presStyleLbl="sibTrans2D1" presStyleIdx="0" presStyleCnt="3"/>
      <dgm:spPr/>
    </dgm:pt>
    <dgm:pt modelId="{9D96FD44-15E9-47C5-A29E-514EF4C088CB}" type="pres">
      <dgm:prSet presAssocID="{6E3B761A-F73F-4E7A-87B4-501FA553130B}" presName="connTx" presStyleLbl="sibTrans2D1" presStyleIdx="0" presStyleCnt="3"/>
      <dgm:spPr/>
    </dgm:pt>
    <dgm:pt modelId="{E6B7B154-F510-4A54-90C9-A75F8207BC12}" type="pres">
      <dgm:prSet presAssocID="{9B8DDAB5-BE68-48B8-9816-1DF5F6FED43D}" presName="composite" presStyleCnt="0"/>
      <dgm:spPr/>
    </dgm:pt>
    <dgm:pt modelId="{39CFA3F5-1FDE-4A97-A8D1-80AF88DF1364}" type="pres">
      <dgm:prSet presAssocID="{9B8DDAB5-BE68-48B8-9816-1DF5F6FED43D}" presName="parTx" presStyleLbl="node1" presStyleIdx="0" presStyleCnt="4">
        <dgm:presLayoutVars>
          <dgm:chMax val="0"/>
          <dgm:chPref val="0"/>
          <dgm:bulletEnabled val="1"/>
        </dgm:presLayoutVars>
      </dgm:prSet>
      <dgm:spPr/>
    </dgm:pt>
    <dgm:pt modelId="{CAA6119F-D6BC-4738-B014-9015184F40F5}" type="pres">
      <dgm:prSet presAssocID="{9B8DDAB5-BE68-48B8-9816-1DF5F6FED43D}" presName="parSh" presStyleLbl="node1" presStyleIdx="1" presStyleCnt="4"/>
      <dgm:spPr/>
    </dgm:pt>
    <dgm:pt modelId="{EC91C1E3-5F85-46E1-8075-A5B78C5B3C47}" type="pres">
      <dgm:prSet presAssocID="{9B8DDAB5-BE68-48B8-9816-1DF5F6FED43D}" presName="desTx" presStyleLbl="fgAcc1" presStyleIdx="1" presStyleCnt="4">
        <dgm:presLayoutVars>
          <dgm:bulletEnabled val="1"/>
        </dgm:presLayoutVars>
      </dgm:prSet>
      <dgm:spPr/>
    </dgm:pt>
    <dgm:pt modelId="{FDB2F0A2-9871-4422-A484-8D6780C07C48}" type="pres">
      <dgm:prSet presAssocID="{7DC60BF5-0BFA-4F2B-8A3B-E0E8203F66A4}" presName="sibTrans" presStyleLbl="sibTrans2D1" presStyleIdx="1" presStyleCnt="3"/>
      <dgm:spPr/>
    </dgm:pt>
    <dgm:pt modelId="{41682EA2-862E-42F3-9814-8E02E0C02481}" type="pres">
      <dgm:prSet presAssocID="{7DC60BF5-0BFA-4F2B-8A3B-E0E8203F66A4}" presName="connTx" presStyleLbl="sibTrans2D1" presStyleIdx="1" presStyleCnt="3"/>
      <dgm:spPr/>
    </dgm:pt>
    <dgm:pt modelId="{BE14D543-AFDF-4F67-83E1-B8A47D530641}" type="pres">
      <dgm:prSet presAssocID="{4BC1AC1D-B7B4-4E8C-B180-6AE4306B438B}" presName="composite" presStyleCnt="0"/>
      <dgm:spPr/>
    </dgm:pt>
    <dgm:pt modelId="{8BC89B5F-2CAB-4E24-8DA6-F4F3F46235DD}" type="pres">
      <dgm:prSet presAssocID="{4BC1AC1D-B7B4-4E8C-B180-6AE4306B438B}" presName="parTx" presStyleLbl="node1" presStyleIdx="1" presStyleCnt="4">
        <dgm:presLayoutVars>
          <dgm:chMax val="0"/>
          <dgm:chPref val="0"/>
          <dgm:bulletEnabled val="1"/>
        </dgm:presLayoutVars>
      </dgm:prSet>
      <dgm:spPr/>
    </dgm:pt>
    <dgm:pt modelId="{0AF1DE99-B996-432F-A0A4-43A7CBDE4B93}" type="pres">
      <dgm:prSet presAssocID="{4BC1AC1D-B7B4-4E8C-B180-6AE4306B438B}" presName="parSh" presStyleLbl="node1" presStyleIdx="2" presStyleCnt="4"/>
      <dgm:spPr/>
    </dgm:pt>
    <dgm:pt modelId="{E5497A1F-CA04-4235-A42D-6DA94D699014}" type="pres">
      <dgm:prSet presAssocID="{4BC1AC1D-B7B4-4E8C-B180-6AE4306B438B}" presName="desTx" presStyleLbl="fgAcc1" presStyleIdx="2" presStyleCnt="4">
        <dgm:presLayoutVars>
          <dgm:bulletEnabled val="1"/>
        </dgm:presLayoutVars>
      </dgm:prSet>
      <dgm:spPr/>
    </dgm:pt>
    <dgm:pt modelId="{8FB3BA93-7003-49B4-9B3B-5FEE4F0011D5}" type="pres">
      <dgm:prSet presAssocID="{7E8A6730-A577-4298-9A47-F1E2B01718B3}" presName="sibTrans" presStyleLbl="sibTrans2D1" presStyleIdx="2" presStyleCnt="3"/>
      <dgm:spPr/>
    </dgm:pt>
    <dgm:pt modelId="{CFE3061E-862B-4FC7-B9CF-9CF84F170DE9}" type="pres">
      <dgm:prSet presAssocID="{7E8A6730-A577-4298-9A47-F1E2B01718B3}" presName="connTx" presStyleLbl="sibTrans2D1" presStyleIdx="2" presStyleCnt="3"/>
      <dgm:spPr/>
    </dgm:pt>
    <dgm:pt modelId="{4483A2DF-5F43-4D31-AA6B-B315901C7303}" type="pres">
      <dgm:prSet presAssocID="{F9C82C00-7967-4DC8-8374-EBD036D16207}" presName="composite" presStyleCnt="0"/>
      <dgm:spPr/>
    </dgm:pt>
    <dgm:pt modelId="{B5A2BB54-670E-4181-9D80-964880B2CDAD}" type="pres">
      <dgm:prSet presAssocID="{F9C82C00-7967-4DC8-8374-EBD036D16207}" presName="parTx" presStyleLbl="node1" presStyleIdx="2" presStyleCnt="4">
        <dgm:presLayoutVars>
          <dgm:chMax val="0"/>
          <dgm:chPref val="0"/>
          <dgm:bulletEnabled val="1"/>
        </dgm:presLayoutVars>
      </dgm:prSet>
      <dgm:spPr/>
    </dgm:pt>
    <dgm:pt modelId="{6FE33ADD-F987-43CF-8C12-DF7D960FFD3D}" type="pres">
      <dgm:prSet presAssocID="{F9C82C00-7967-4DC8-8374-EBD036D16207}" presName="parSh" presStyleLbl="node1" presStyleIdx="3" presStyleCnt="4"/>
      <dgm:spPr/>
    </dgm:pt>
    <dgm:pt modelId="{1AB47F30-E07B-4F72-A2C6-BE2B6E01EC5E}" type="pres">
      <dgm:prSet presAssocID="{F9C82C00-7967-4DC8-8374-EBD036D16207}" presName="desTx" presStyleLbl="fgAcc1" presStyleIdx="3" presStyleCnt="4">
        <dgm:presLayoutVars>
          <dgm:bulletEnabled val="1"/>
        </dgm:presLayoutVars>
      </dgm:prSet>
      <dgm:spPr/>
    </dgm:pt>
  </dgm:ptLst>
  <dgm:cxnLst>
    <dgm:cxn modelId="{78736804-24E9-4D27-99C1-906326AF3944}" srcId="{F716F197-7D0F-4862-B832-91C132A9FFD5}" destId="{F9C82C00-7967-4DC8-8374-EBD036D16207}" srcOrd="3" destOrd="0" parTransId="{C52DDCB6-8A21-49FB-81D4-598935B94FFB}" sibTransId="{4AE9667D-ACCE-4E6E-B4D0-A1EBFE689ACC}"/>
    <dgm:cxn modelId="{CEBB370F-C598-45EF-AA2B-50D1454E48F9}" type="presOf" srcId="{4BC1AC1D-B7B4-4E8C-B180-6AE4306B438B}" destId="{8BC89B5F-2CAB-4E24-8DA6-F4F3F46235DD}" srcOrd="0" destOrd="0" presId="urn:microsoft.com/office/officeart/2005/8/layout/process3"/>
    <dgm:cxn modelId="{9E4B3E10-37AD-4EB9-B6D5-6A346094138F}" type="presOf" srcId="{E80E6952-C094-4F23-A7DC-0FD8B9190790}" destId="{1AB47F30-E07B-4F72-A2C6-BE2B6E01EC5E}" srcOrd="0" destOrd="0" presId="urn:microsoft.com/office/officeart/2005/8/layout/process3"/>
    <dgm:cxn modelId="{19BBAA17-04EA-409F-B719-9586A006232F}" srcId="{7C65E96E-7213-4F62-B4FB-E3A00A26DA3E}" destId="{450E8FAF-24BC-4D44-9428-013B017E279C}" srcOrd="0" destOrd="0" parTransId="{683D1C2E-EBEA-490E-A9D3-CAE86989BBBA}" sibTransId="{C0AD4E68-D2F5-42A8-A16C-E954CC43980B}"/>
    <dgm:cxn modelId="{D953DB36-0B9B-4B57-B066-2706D4FA7204}" type="presOf" srcId="{6E3B761A-F73F-4E7A-87B4-501FA553130B}" destId="{C8656852-8182-409B-87AC-5F1A5791A8B1}" srcOrd="0" destOrd="0" presId="urn:microsoft.com/office/officeart/2005/8/layout/process3"/>
    <dgm:cxn modelId="{748B6737-1942-4F5D-AF24-993BC3976B7A}" type="presOf" srcId="{9B8DDAB5-BE68-48B8-9816-1DF5F6FED43D}" destId="{CAA6119F-D6BC-4738-B014-9015184F40F5}" srcOrd="1" destOrd="0" presId="urn:microsoft.com/office/officeart/2005/8/layout/process3"/>
    <dgm:cxn modelId="{573F4B5B-6460-45B3-AF11-6A147754DA15}" type="presOf" srcId="{7C65E96E-7213-4F62-B4FB-E3A00A26DA3E}" destId="{0D28CA59-2E38-466F-B5EB-661A8004F9B7}" srcOrd="0" destOrd="0" presId="urn:microsoft.com/office/officeart/2005/8/layout/process3"/>
    <dgm:cxn modelId="{A4AEDE5C-71D7-4370-8906-E215872D36A5}" srcId="{F9C82C00-7967-4DC8-8374-EBD036D16207}" destId="{E80E6952-C094-4F23-A7DC-0FD8B9190790}" srcOrd="0" destOrd="0" parTransId="{3A19281C-0013-491F-B1CF-B1FBFA0880D0}" sibTransId="{B4F6F217-9973-4005-9725-7B87573B30A0}"/>
    <dgm:cxn modelId="{B730CC45-2BFE-499B-9FBC-F8BCDCA5F8F5}" type="presOf" srcId="{7C65E96E-7213-4F62-B4FB-E3A00A26DA3E}" destId="{270FDEAA-A3E8-4D82-86C7-4B23AA507EF4}" srcOrd="1" destOrd="0" presId="urn:microsoft.com/office/officeart/2005/8/layout/process3"/>
    <dgm:cxn modelId="{71CE4168-539D-4CEC-B4B7-8DBDD3952B24}" srcId="{F716F197-7D0F-4862-B832-91C132A9FFD5}" destId="{4BC1AC1D-B7B4-4E8C-B180-6AE4306B438B}" srcOrd="2" destOrd="0" parTransId="{C0DE6028-468C-47E8-A035-D9254173D091}" sibTransId="{7E8A6730-A577-4298-9A47-F1E2B01718B3}"/>
    <dgm:cxn modelId="{1BA4CA75-E6EF-4A60-9C8C-C68A871EB03F}" type="presOf" srcId="{F716F197-7D0F-4862-B832-91C132A9FFD5}" destId="{320C3D69-55D9-4C0A-B8A5-E98640FC243D}" srcOrd="0" destOrd="0" presId="urn:microsoft.com/office/officeart/2005/8/layout/process3"/>
    <dgm:cxn modelId="{9843C556-C1BA-4666-94F1-10325280B5FD}" type="presOf" srcId="{9B8DDAB5-BE68-48B8-9816-1DF5F6FED43D}" destId="{39CFA3F5-1FDE-4A97-A8D1-80AF88DF1364}" srcOrd="0" destOrd="0" presId="urn:microsoft.com/office/officeart/2005/8/layout/process3"/>
    <dgm:cxn modelId="{85C14579-835C-4504-A2D7-2F2ECBE777AA}" type="presOf" srcId="{7DC60BF5-0BFA-4F2B-8A3B-E0E8203F66A4}" destId="{FDB2F0A2-9871-4422-A484-8D6780C07C48}" srcOrd="0" destOrd="0" presId="urn:microsoft.com/office/officeart/2005/8/layout/process3"/>
    <dgm:cxn modelId="{B9E9347F-87F0-4C88-A64F-46F74408519A}" type="presOf" srcId="{9EF9123B-2F70-43C1-9E4C-506BD7F3ADDA}" destId="{EC91C1E3-5F85-46E1-8075-A5B78C5B3C47}" srcOrd="0" destOrd="0" presId="urn:microsoft.com/office/officeart/2005/8/layout/process3"/>
    <dgm:cxn modelId="{137CB783-B346-4542-8DDB-EA1408785A59}" type="presOf" srcId="{7E8A6730-A577-4298-9A47-F1E2B01718B3}" destId="{8FB3BA93-7003-49B4-9B3B-5FEE4F0011D5}" srcOrd="0" destOrd="0" presId="urn:microsoft.com/office/officeart/2005/8/layout/process3"/>
    <dgm:cxn modelId="{400E1691-5B57-49DE-8BCC-94806C5F225A}" srcId="{F716F197-7D0F-4862-B832-91C132A9FFD5}" destId="{7C65E96E-7213-4F62-B4FB-E3A00A26DA3E}" srcOrd="0" destOrd="0" parTransId="{843EB1BA-A82F-439F-A4AA-7E98569ECE09}" sibTransId="{6E3B761A-F73F-4E7A-87B4-501FA553130B}"/>
    <dgm:cxn modelId="{DA8375A6-A7A5-413C-93D2-C5815D4746D7}" type="presOf" srcId="{BD72D1DC-16DA-453C-83CD-237FE032D5C5}" destId="{E5497A1F-CA04-4235-A42D-6DA94D699014}" srcOrd="0" destOrd="0" presId="urn:microsoft.com/office/officeart/2005/8/layout/process3"/>
    <dgm:cxn modelId="{C6B0A5A9-6AA9-4075-9FDC-DF135394D8A1}" type="presOf" srcId="{7E8A6730-A577-4298-9A47-F1E2B01718B3}" destId="{CFE3061E-862B-4FC7-B9CF-9CF84F170DE9}" srcOrd="1" destOrd="0" presId="urn:microsoft.com/office/officeart/2005/8/layout/process3"/>
    <dgm:cxn modelId="{71533BB2-C299-48F7-9C60-87FF7E664C15}" srcId="{4BC1AC1D-B7B4-4E8C-B180-6AE4306B438B}" destId="{BD72D1DC-16DA-453C-83CD-237FE032D5C5}" srcOrd="0" destOrd="0" parTransId="{4C3F265B-65B5-43D5-A7D0-AF793805A877}" sibTransId="{A48A0CA0-1BA1-4046-B230-19FA0C7B9401}"/>
    <dgm:cxn modelId="{4F2493B2-F9FF-4E37-8064-1EC103E1674F}" type="presOf" srcId="{7DC60BF5-0BFA-4F2B-8A3B-E0E8203F66A4}" destId="{41682EA2-862E-42F3-9814-8E02E0C02481}" srcOrd="1" destOrd="0" presId="urn:microsoft.com/office/officeart/2005/8/layout/process3"/>
    <dgm:cxn modelId="{421C60BD-92FE-4A23-959E-B25E840F7206}" srcId="{9B8DDAB5-BE68-48B8-9816-1DF5F6FED43D}" destId="{9EF9123B-2F70-43C1-9E4C-506BD7F3ADDA}" srcOrd="0" destOrd="0" parTransId="{01270675-766E-4228-B0E6-CCA4FEDC805C}" sibTransId="{B404E946-ED57-487B-8764-DD530C285481}"/>
    <dgm:cxn modelId="{FB7667CE-5E5C-4387-B433-E7574B9E6245}" type="presOf" srcId="{6E3B761A-F73F-4E7A-87B4-501FA553130B}" destId="{9D96FD44-15E9-47C5-A29E-514EF4C088CB}" srcOrd="1" destOrd="0" presId="urn:microsoft.com/office/officeart/2005/8/layout/process3"/>
    <dgm:cxn modelId="{B2EC21CF-0913-44F1-9FFA-2146B884F4E6}" type="presOf" srcId="{450E8FAF-24BC-4D44-9428-013B017E279C}" destId="{91A1B70A-E66A-4A1E-94AF-8ECEDA4FCD7E}" srcOrd="0" destOrd="0" presId="urn:microsoft.com/office/officeart/2005/8/layout/process3"/>
    <dgm:cxn modelId="{F2178BD1-44D4-4CED-AB28-AF6F6026792D}" type="presOf" srcId="{F9C82C00-7967-4DC8-8374-EBD036D16207}" destId="{B5A2BB54-670E-4181-9D80-964880B2CDAD}" srcOrd="0" destOrd="0" presId="urn:microsoft.com/office/officeart/2005/8/layout/process3"/>
    <dgm:cxn modelId="{5FDD88EA-666E-46C6-BDCF-74C105C2DE13}" srcId="{F716F197-7D0F-4862-B832-91C132A9FFD5}" destId="{9B8DDAB5-BE68-48B8-9816-1DF5F6FED43D}" srcOrd="1" destOrd="0" parTransId="{87E62274-8C84-4914-815A-9E802E379AE8}" sibTransId="{7DC60BF5-0BFA-4F2B-8A3B-E0E8203F66A4}"/>
    <dgm:cxn modelId="{6E62DAF3-2000-4EBA-9957-66CB115844E6}" type="presOf" srcId="{4BC1AC1D-B7B4-4E8C-B180-6AE4306B438B}" destId="{0AF1DE99-B996-432F-A0A4-43A7CBDE4B93}" srcOrd="1" destOrd="0" presId="urn:microsoft.com/office/officeart/2005/8/layout/process3"/>
    <dgm:cxn modelId="{7FBDEAFE-39B2-4D08-B7CB-7CC28D04E247}" type="presOf" srcId="{F9C82C00-7967-4DC8-8374-EBD036D16207}" destId="{6FE33ADD-F987-43CF-8C12-DF7D960FFD3D}" srcOrd="1" destOrd="0" presId="urn:microsoft.com/office/officeart/2005/8/layout/process3"/>
    <dgm:cxn modelId="{5B5E4248-D57A-43B6-9619-DAE11BDD5B04}" type="presParOf" srcId="{320C3D69-55D9-4C0A-B8A5-E98640FC243D}" destId="{355CE8F2-C03D-4660-A36E-DB38DEE685B8}" srcOrd="0" destOrd="0" presId="urn:microsoft.com/office/officeart/2005/8/layout/process3"/>
    <dgm:cxn modelId="{2232C118-7C8C-4FA3-8E15-26BF6631F58E}" type="presParOf" srcId="{355CE8F2-C03D-4660-A36E-DB38DEE685B8}" destId="{0D28CA59-2E38-466F-B5EB-661A8004F9B7}" srcOrd="0" destOrd="0" presId="urn:microsoft.com/office/officeart/2005/8/layout/process3"/>
    <dgm:cxn modelId="{3D3EC66E-B683-40B3-9A5E-939944CCEA91}" type="presParOf" srcId="{355CE8F2-C03D-4660-A36E-DB38DEE685B8}" destId="{270FDEAA-A3E8-4D82-86C7-4B23AA507EF4}" srcOrd="1" destOrd="0" presId="urn:microsoft.com/office/officeart/2005/8/layout/process3"/>
    <dgm:cxn modelId="{19A342FF-A143-4143-BB3C-23F38736B60A}" type="presParOf" srcId="{355CE8F2-C03D-4660-A36E-DB38DEE685B8}" destId="{91A1B70A-E66A-4A1E-94AF-8ECEDA4FCD7E}" srcOrd="2" destOrd="0" presId="urn:microsoft.com/office/officeart/2005/8/layout/process3"/>
    <dgm:cxn modelId="{BC4C25EB-1799-4CBF-80D0-951BE0B6A275}" type="presParOf" srcId="{320C3D69-55D9-4C0A-B8A5-E98640FC243D}" destId="{C8656852-8182-409B-87AC-5F1A5791A8B1}" srcOrd="1" destOrd="0" presId="urn:microsoft.com/office/officeart/2005/8/layout/process3"/>
    <dgm:cxn modelId="{6273ED98-5CE3-467D-B483-0E7BF4CD02CE}" type="presParOf" srcId="{C8656852-8182-409B-87AC-5F1A5791A8B1}" destId="{9D96FD44-15E9-47C5-A29E-514EF4C088CB}" srcOrd="0" destOrd="0" presId="urn:microsoft.com/office/officeart/2005/8/layout/process3"/>
    <dgm:cxn modelId="{0C42A750-1DAC-44C1-A7B5-C74CFC8D1241}" type="presParOf" srcId="{320C3D69-55D9-4C0A-B8A5-E98640FC243D}" destId="{E6B7B154-F510-4A54-90C9-A75F8207BC12}" srcOrd="2" destOrd="0" presId="urn:microsoft.com/office/officeart/2005/8/layout/process3"/>
    <dgm:cxn modelId="{A1A4AC79-BC6A-4555-9F08-9F7DBFEA1CF8}" type="presParOf" srcId="{E6B7B154-F510-4A54-90C9-A75F8207BC12}" destId="{39CFA3F5-1FDE-4A97-A8D1-80AF88DF1364}" srcOrd="0" destOrd="0" presId="urn:microsoft.com/office/officeart/2005/8/layout/process3"/>
    <dgm:cxn modelId="{85DCFEFC-ADF4-4A18-B1D8-8FCBBFDC1CFA}" type="presParOf" srcId="{E6B7B154-F510-4A54-90C9-A75F8207BC12}" destId="{CAA6119F-D6BC-4738-B014-9015184F40F5}" srcOrd="1" destOrd="0" presId="urn:microsoft.com/office/officeart/2005/8/layout/process3"/>
    <dgm:cxn modelId="{C0BE17CB-8759-4461-8CCC-EE62337EBDEA}" type="presParOf" srcId="{E6B7B154-F510-4A54-90C9-A75F8207BC12}" destId="{EC91C1E3-5F85-46E1-8075-A5B78C5B3C47}" srcOrd="2" destOrd="0" presId="urn:microsoft.com/office/officeart/2005/8/layout/process3"/>
    <dgm:cxn modelId="{8D1C94C8-D6CE-4A3A-A21A-8F047E612622}" type="presParOf" srcId="{320C3D69-55D9-4C0A-B8A5-E98640FC243D}" destId="{FDB2F0A2-9871-4422-A484-8D6780C07C48}" srcOrd="3" destOrd="0" presId="urn:microsoft.com/office/officeart/2005/8/layout/process3"/>
    <dgm:cxn modelId="{91561D4B-AB61-4D22-9723-1350C4BA7324}" type="presParOf" srcId="{FDB2F0A2-9871-4422-A484-8D6780C07C48}" destId="{41682EA2-862E-42F3-9814-8E02E0C02481}" srcOrd="0" destOrd="0" presId="urn:microsoft.com/office/officeart/2005/8/layout/process3"/>
    <dgm:cxn modelId="{0C195A8D-EE77-424A-A81A-6DFF984E8AB4}" type="presParOf" srcId="{320C3D69-55D9-4C0A-B8A5-E98640FC243D}" destId="{BE14D543-AFDF-4F67-83E1-B8A47D530641}" srcOrd="4" destOrd="0" presId="urn:microsoft.com/office/officeart/2005/8/layout/process3"/>
    <dgm:cxn modelId="{409AF3C7-19D1-4E1A-80A2-54D822829F42}" type="presParOf" srcId="{BE14D543-AFDF-4F67-83E1-B8A47D530641}" destId="{8BC89B5F-2CAB-4E24-8DA6-F4F3F46235DD}" srcOrd="0" destOrd="0" presId="urn:microsoft.com/office/officeart/2005/8/layout/process3"/>
    <dgm:cxn modelId="{6565982B-8AEE-4046-B12F-F455996AB1B5}" type="presParOf" srcId="{BE14D543-AFDF-4F67-83E1-B8A47D530641}" destId="{0AF1DE99-B996-432F-A0A4-43A7CBDE4B93}" srcOrd="1" destOrd="0" presId="urn:microsoft.com/office/officeart/2005/8/layout/process3"/>
    <dgm:cxn modelId="{53C82D2A-3A02-4686-851D-4F94AC5154F5}" type="presParOf" srcId="{BE14D543-AFDF-4F67-83E1-B8A47D530641}" destId="{E5497A1F-CA04-4235-A42D-6DA94D699014}" srcOrd="2" destOrd="0" presId="urn:microsoft.com/office/officeart/2005/8/layout/process3"/>
    <dgm:cxn modelId="{B00DD0FE-89D5-4652-B0F4-21E16B418F59}" type="presParOf" srcId="{320C3D69-55D9-4C0A-B8A5-E98640FC243D}" destId="{8FB3BA93-7003-49B4-9B3B-5FEE4F0011D5}" srcOrd="5" destOrd="0" presId="urn:microsoft.com/office/officeart/2005/8/layout/process3"/>
    <dgm:cxn modelId="{6AEB63FE-70F6-439C-985B-4D6AF9456F34}" type="presParOf" srcId="{8FB3BA93-7003-49B4-9B3B-5FEE4F0011D5}" destId="{CFE3061E-862B-4FC7-B9CF-9CF84F170DE9}" srcOrd="0" destOrd="0" presId="urn:microsoft.com/office/officeart/2005/8/layout/process3"/>
    <dgm:cxn modelId="{1BE1D685-B20A-4908-912C-A9DD755B75FA}" type="presParOf" srcId="{320C3D69-55D9-4C0A-B8A5-E98640FC243D}" destId="{4483A2DF-5F43-4D31-AA6B-B315901C7303}" srcOrd="6" destOrd="0" presId="urn:microsoft.com/office/officeart/2005/8/layout/process3"/>
    <dgm:cxn modelId="{CE278122-94E6-4402-B165-B304A7A201F6}" type="presParOf" srcId="{4483A2DF-5F43-4D31-AA6B-B315901C7303}" destId="{B5A2BB54-670E-4181-9D80-964880B2CDAD}" srcOrd="0" destOrd="0" presId="urn:microsoft.com/office/officeart/2005/8/layout/process3"/>
    <dgm:cxn modelId="{AED190C2-02A4-4655-B6A0-D04017BC66E5}" type="presParOf" srcId="{4483A2DF-5F43-4D31-AA6B-B315901C7303}" destId="{6FE33ADD-F987-43CF-8C12-DF7D960FFD3D}" srcOrd="1" destOrd="0" presId="urn:microsoft.com/office/officeart/2005/8/layout/process3"/>
    <dgm:cxn modelId="{01F3DBFD-6FA6-4BC7-A7A2-8133C7A71D54}" type="presParOf" srcId="{4483A2DF-5F43-4D31-AA6B-B315901C7303}" destId="{1AB47F30-E07B-4F72-A2C6-BE2B6E01EC5E}"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6EE230-8E0E-416D-B5EF-B15B56B4466C}" type="doc">
      <dgm:prSet loTypeId="urn:microsoft.com/office/officeart/2005/8/layout/process4" loCatId="process" qsTypeId="urn:microsoft.com/office/officeart/2005/8/quickstyle/simple1" qsCatId="simple" csTypeId="urn:microsoft.com/office/officeart/2005/8/colors/colorful3" csCatId="colorful" phldr="1"/>
      <dgm:spPr/>
      <dgm:t>
        <a:bodyPr/>
        <a:lstStyle/>
        <a:p>
          <a:endParaRPr lang="en-IN"/>
        </a:p>
      </dgm:t>
    </dgm:pt>
    <dgm:pt modelId="{4F8128F7-0F67-45BC-B7B7-0BA5E3783B4D}">
      <dgm:prSet phldrT="[Text]"/>
      <dgm:spPr/>
      <dgm:t>
        <a:bodyPr/>
        <a:lstStyle/>
        <a:p>
          <a:pPr>
            <a:buNone/>
          </a:pPr>
          <a:r>
            <a:rPr lang="en-IN" dirty="0"/>
            <a:t>Raw Transaction Data</a:t>
          </a:r>
        </a:p>
      </dgm:t>
    </dgm:pt>
    <dgm:pt modelId="{FBEF7B8C-C9DB-40F7-A6F8-9EDCA3C86BB8}" type="parTrans" cxnId="{D8BF64AC-C113-44F5-ABF9-26C93417C7C0}">
      <dgm:prSet/>
      <dgm:spPr/>
      <dgm:t>
        <a:bodyPr/>
        <a:lstStyle/>
        <a:p>
          <a:endParaRPr lang="en-IN"/>
        </a:p>
      </dgm:t>
    </dgm:pt>
    <dgm:pt modelId="{A02034B3-73B2-464A-A1AC-5472059B3960}" type="sibTrans" cxnId="{D8BF64AC-C113-44F5-ABF9-26C93417C7C0}">
      <dgm:prSet/>
      <dgm:spPr/>
      <dgm:t>
        <a:bodyPr/>
        <a:lstStyle/>
        <a:p>
          <a:endParaRPr lang="en-IN"/>
        </a:p>
      </dgm:t>
    </dgm:pt>
    <dgm:pt modelId="{0E0969DF-D536-4174-889F-8CC67A7C478C}">
      <dgm:prSet phldrT="[Text]"/>
      <dgm:spPr/>
      <dgm:t>
        <a:bodyPr/>
        <a:lstStyle/>
        <a:p>
          <a:pPr>
            <a:buNone/>
          </a:pPr>
          <a:r>
            <a:rPr lang="en-IN" dirty="0"/>
            <a:t>Data Cleaning &amp; Processing</a:t>
          </a:r>
        </a:p>
      </dgm:t>
    </dgm:pt>
    <dgm:pt modelId="{22B33722-51AF-48E5-B524-0258FEE337F9}" type="parTrans" cxnId="{14C58FE9-675F-4115-A542-A6F171A08A8E}">
      <dgm:prSet/>
      <dgm:spPr/>
      <dgm:t>
        <a:bodyPr/>
        <a:lstStyle/>
        <a:p>
          <a:endParaRPr lang="en-IN"/>
        </a:p>
      </dgm:t>
    </dgm:pt>
    <dgm:pt modelId="{3E9CD623-5EE3-443C-A3DA-F34A399BE7EE}" type="sibTrans" cxnId="{14C58FE9-675F-4115-A542-A6F171A08A8E}">
      <dgm:prSet/>
      <dgm:spPr/>
      <dgm:t>
        <a:bodyPr/>
        <a:lstStyle/>
        <a:p>
          <a:endParaRPr lang="en-IN"/>
        </a:p>
      </dgm:t>
    </dgm:pt>
    <dgm:pt modelId="{96090D58-760D-4C16-8CFF-1E04449F70D3}">
      <dgm:prSet phldrT="[Text]"/>
      <dgm:spPr/>
      <dgm:t>
        <a:bodyPr/>
        <a:lstStyle/>
        <a:p>
          <a:pPr>
            <a:buNone/>
          </a:pPr>
          <a:r>
            <a:rPr lang="en-IN" dirty="0"/>
            <a:t>EDA  Analysis</a:t>
          </a:r>
        </a:p>
      </dgm:t>
    </dgm:pt>
    <dgm:pt modelId="{359F7389-54DA-4665-B00B-A5745B39824E}" type="parTrans" cxnId="{69859040-600E-477C-A625-DB15EF053D87}">
      <dgm:prSet/>
      <dgm:spPr/>
      <dgm:t>
        <a:bodyPr/>
        <a:lstStyle/>
        <a:p>
          <a:endParaRPr lang="en-IN"/>
        </a:p>
      </dgm:t>
    </dgm:pt>
    <dgm:pt modelId="{038F0B2E-8539-432B-9033-4E44A58667FE}" type="sibTrans" cxnId="{69859040-600E-477C-A625-DB15EF053D87}">
      <dgm:prSet/>
      <dgm:spPr/>
      <dgm:t>
        <a:bodyPr/>
        <a:lstStyle/>
        <a:p>
          <a:endParaRPr lang="en-IN"/>
        </a:p>
      </dgm:t>
    </dgm:pt>
    <dgm:pt modelId="{1C65C65F-AFEE-403B-A152-1D4868CDBC6B}">
      <dgm:prSet phldrT="[Text]"/>
      <dgm:spPr/>
      <dgm:t>
        <a:bodyPr/>
        <a:lstStyle/>
        <a:p>
          <a:pPr>
            <a:buNone/>
          </a:pPr>
          <a:r>
            <a:rPr lang="en-IN" dirty="0"/>
            <a:t>Customer Segmentation </a:t>
          </a:r>
        </a:p>
      </dgm:t>
    </dgm:pt>
    <dgm:pt modelId="{15DFF30E-656B-4C38-AEFA-0F07DFA9166B}" type="parTrans" cxnId="{C1DC7831-79CD-4652-A89E-9A6FEA184DE4}">
      <dgm:prSet/>
      <dgm:spPr/>
      <dgm:t>
        <a:bodyPr/>
        <a:lstStyle/>
        <a:p>
          <a:endParaRPr lang="en-IN"/>
        </a:p>
      </dgm:t>
    </dgm:pt>
    <dgm:pt modelId="{F0C7BFB9-948A-423A-8F45-F83C0B334C89}" type="sibTrans" cxnId="{C1DC7831-79CD-4652-A89E-9A6FEA184DE4}">
      <dgm:prSet/>
      <dgm:spPr/>
      <dgm:t>
        <a:bodyPr/>
        <a:lstStyle/>
        <a:p>
          <a:endParaRPr lang="en-IN"/>
        </a:p>
      </dgm:t>
    </dgm:pt>
    <dgm:pt modelId="{A9F0D8CE-17E5-44F3-A0C3-67968E52B992}">
      <dgm:prSet phldrT="[Text]"/>
      <dgm:spPr/>
      <dgm:t>
        <a:bodyPr/>
        <a:lstStyle/>
        <a:p>
          <a:pPr>
            <a:buNone/>
          </a:pPr>
          <a:r>
            <a:rPr lang="en-IN"/>
            <a:t>Business Dashboard</a:t>
          </a:r>
          <a:endParaRPr lang="en-IN" dirty="0"/>
        </a:p>
      </dgm:t>
    </dgm:pt>
    <dgm:pt modelId="{431FA6D4-B768-4660-BAD6-DD991F1D21C1}" type="parTrans" cxnId="{A5B80619-71B1-4813-AF06-63FD3270AD18}">
      <dgm:prSet/>
      <dgm:spPr/>
      <dgm:t>
        <a:bodyPr/>
        <a:lstStyle/>
        <a:p>
          <a:endParaRPr lang="en-IN"/>
        </a:p>
      </dgm:t>
    </dgm:pt>
    <dgm:pt modelId="{B4FEB431-F362-4068-9FF5-0312AB924F0B}" type="sibTrans" cxnId="{A5B80619-71B1-4813-AF06-63FD3270AD18}">
      <dgm:prSet/>
      <dgm:spPr/>
      <dgm:t>
        <a:bodyPr/>
        <a:lstStyle/>
        <a:p>
          <a:endParaRPr lang="en-IN"/>
        </a:p>
      </dgm:t>
    </dgm:pt>
    <dgm:pt modelId="{1120C334-0065-495B-9F79-C99239BECD6D}" type="pres">
      <dgm:prSet presAssocID="{526EE230-8E0E-416D-B5EF-B15B56B4466C}" presName="Name0" presStyleCnt="0">
        <dgm:presLayoutVars>
          <dgm:dir/>
          <dgm:animLvl val="lvl"/>
          <dgm:resizeHandles val="exact"/>
        </dgm:presLayoutVars>
      </dgm:prSet>
      <dgm:spPr/>
    </dgm:pt>
    <dgm:pt modelId="{66C912BC-E23E-4A06-A6F5-44366F979C4C}" type="pres">
      <dgm:prSet presAssocID="{A9F0D8CE-17E5-44F3-A0C3-67968E52B992}" presName="boxAndChildren" presStyleCnt="0"/>
      <dgm:spPr/>
    </dgm:pt>
    <dgm:pt modelId="{A546CDC4-0C76-471E-8404-57990F7D98E2}" type="pres">
      <dgm:prSet presAssocID="{A9F0D8CE-17E5-44F3-A0C3-67968E52B992}" presName="parentTextBox" presStyleLbl="node1" presStyleIdx="0" presStyleCnt="5"/>
      <dgm:spPr/>
    </dgm:pt>
    <dgm:pt modelId="{1E637B36-194D-474B-94F0-A14478157B8E}" type="pres">
      <dgm:prSet presAssocID="{F0C7BFB9-948A-423A-8F45-F83C0B334C89}" presName="sp" presStyleCnt="0"/>
      <dgm:spPr/>
    </dgm:pt>
    <dgm:pt modelId="{1980E204-CA73-4434-AD74-03AED8667A77}" type="pres">
      <dgm:prSet presAssocID="{1C65C65F-AFEE-403B-A152-1D4868CDBC6B}" presName="arrowAndChildren" presStyleCnt="0"/>
      <dgm:spPr/>
    </dgm:pt>
    <dgm:pt modelId="{C61C6585-0F6A-4CC2-A8EA-CD9CF88DEB48}" type="pres">
      <dgm:prSet presAssocID="{1C65C65F-AFEE-403B-A152-1D4868CDBC6B}" presName="parentTextArrow" presStyleLbl="node1" presStyleIdx="1" presStyleCnt="5"/>
      <dgm:spPr/>
    </dgm:pt>
    <dgm:pt modelId="{7CF6A11E-8A87-49DA-8745-20960286B808}" type="pres">
      <dgm:prSet presAssocID="{038F0B2E-8539-432B-9033-4E44A58667FE}" presName="sp" presStyleCnt="0"/>
      <dgm:spPr/>
    </dgm:pt>
    <dgm:pt modelId="{7030D88A-723D-4D95-9795-26BE4BAC1278}" type="pres">
      <dgm:prSet presAssocID="{96090D58-760D-4C16-8CFF-1E04449F70D3}" presName="arrowAndChildren" presStyleCnt="0"/>
      <dgm:spPr/>
    </dgm:pt>
    <dgm:pt modelId="{815F325C-BB52-4D2D-8395-9C7F787DDDA9}" type="pres">
      <dgm:prSet presAssocID="{96090D58-760D-4C16-8CFF-1E04449F70D3}" presName="parentTextArrow" presStyleLbl="node1" presStyleIdx="2" presStyleCnt="5"/>
      <dgm:spPr/>
    </dgm:pt>
    <dgm:pt modelId="{2AC8F5DA-12C0-4B92-B26E-B8D36D2B5562}" type="pres">
      <dgm:prSet presAssocID="{3E9CD623-5EE3-443C-A3DA-F34A399BE7EE}" presName="sp" presStyleCnt="0"/>
      <dgm:spPr/>
    </dgm:pt>
    <dgm:pt modelId="{73ADC4E4-DA11-41C3-B342-F39A62C924D3}" type="pres">
      <dgm:prSet presAssocID="{0E0969DF-D536-4174-889F-8CC67A7C478C}" presName="arrowAndChildren" presStyleCnt="0"/>
      <dgm:spPr/>
    </dgm:pt>
    <dgm:pt modelId="{8DC15068-E803-4949-852B-E8C9CC3CBFD0}" type="pres">
      <dgm:prSet presAssocID="{0E0969DF-D536-4174-889F-8CC67A7C478C}" presName="parentTextArrow" presStyleLbl="node1" presStyleIdx="3" presStyleCnt="5"/>
      <dgm:spPr/>
    </dgm:pt>
    <dgm:pt modelId="{D4FE7BFE-AA24-4155-A148-571BBA9E7BB6}" type="pres">
      <dgm:prSet presAssocID="{A02034B3-73B2-464A-A1AC-5472059B3960}" presName="sp" presStyleCnt="0"/>
      <dgm:spPr/>
    </dgm:pt>
    <dgm:pt modelId="{B4C3FAD7-5D1A-4CCD-9EB5-4B1A7D32BBB2}" type="pres">
      <dgm:prSet presAssocID="{4F8128F7-0F67-45BC-B7B7-0BA5E3783B4D}" presName="arrowAndChildren" presStyleCnt="0"/>
      <dgm:spPr/>
    </dgm:pt>
    <dgm:pt modelId="{213DF237-505B-479F-A651-6C2C95F510CB}" type="pres">
      <dgm:prSet presAssocID="{4F8128F7-0F67-45BC-B7B7-0BA5E3783B4D}" presName="parentTextArrow" presStyleLbl="node1" presStyleIdx="4" presStyleCnt="5"/>
      <dgm:spPr/>
    </dgm:pt>
  </dgm:ptLst>
  <dgm:cxnLst>
    <dgm:cxn modelId="{A5B80619-71B1-4813-AF06-63FD3270AD18}" srcId="{526EE230-8E0E-416D-B5EF-B15B56B4466C}" destId="{A9F0D8CE-17E5-44F3-A0C3-67968E52B992}" srcOrd="4" destOrd="0" parTransId="{431FA6D4-B768-4660-BAD6-DD991F1D21C1}" sibTransId="{B4FEB431-F362-4068-9FF5-0312AB924F0B}"/>
    <dgm:cxn modelId="{C1DC7831-79CD-4652-A89E-9A6FEA184DE4}" srcId="{526EE230-8E0E-416D-B5EF-B15B56B4466C}" destId="{1C65C65F-AFEE-403B-A152-1D4868CDBC6B}" srcOrd="3" destOrd="0" parTransId="{15DFF30E-656B-4C38-AEFA-0F07DFA9166B}" sibTransId="{F0C7BFB9-948A-423A-8F45-F83C0B334C89}"/>
    <dgm:cxn modelId="{69859040-600E-477C-A625-DB15EF053D87}" srcId="{526EE230-8E0E-416D-B5EF-B15B56B4466C}" destId="{96090D58-760D-4C16-8CFF-1E04449F70D3}" srcOrd="2" destOrd="0" parTransId="{359F7389-54DA-4665-B00B-A5745B39824E}" sibTransId="{038F0B2E-8539-432B-9033-4E44A58667FE}"/>
    <dgm:cxn modelId="{F11CCA47-AFC7-4AA4-9048-8C72061AC17A}" type="presOf" srcId="{A9F0D8CE-17E5-44F3-A0C3-67968E52B992}" destId="{A546CDC4-0C76-471E-8404-57990F7D98E2}" srcOrd="0" destOrd="0" presId="urn:microsoft.com/office/officeart/2005/8/layout/process4"/>
    <dgm:cxn modelId="{C8C4D271-13B4-40F1-876C-CDD260354096}" type="presOf" srcId="{1C65C65F-AFEE-403B-A152-1D4868CDBC6B}" destId="{C61C6585-0F6A-4CC2-A8EA-CD9CF88DEB48}" srcOrd="0" destOrd="0" presId="urn:microsoft.com/office/officeart/2005/8/layout/process4"/>
    <dgm:cxn modelId="{E79C2F80-66AC-4AA2-A5A2-2EB302B52773}" type="presOf" srcId="{96090D58-760D-4C16-8CFF-1E04449F70D3}" destId="{815F325C-BB52-4D2D-8395-9C7F787DDDA9}" srcOrd="0" destOrd="0" presId="urn:microsoft.com/office/officeart/2005/8/layout/process4"/>
    <dgm:cxn modelId="{35F69D96-950C-456B-85E4-358B6C6FF077}" type="presOf" srcId="{526EE230-8E0E-416D-B5EF-B15B56B4466C}" destId="{1120C334-0065-495B-9F79-C99239BECD6D}" srcOrd="0" destOrd="0" presId="urn:microsoft.com/office/officeart/2005/8/layout/process4"/>
    <dgm:cxn modelId="{D8BF64AC-C113-44F5-ABF9-26C93417C7C0}" srcId="{526EE230-8E0E-416D-B5EF-B15B56B4466C}" destId="{4F8128F7-0F67-45BC-B7B7-0BA5E3783B4D}" srcOrd="0" destOrd="0" parTransId="{FBEF7B8C-C9DB-40F7-A6F8-9EDCA3C86BB8}" sibTransId="{A02034B3-73B2-464A-A1AC-5472059B3960}"/>
    <dgm:cxn modelId="{D34AB7BA-2E2E-40BF-A044-DA200459D7F9}" type="presOf" srcId="{0E0969DF-D536-4174-889F-8CC67A7C478C}" destId="{8DC15068-E803-4949-852B-E8C9CC3CBFD0}" srcOrd="0" destOrd="0" presId="urn:microsoft.com/office/officeart/2005/8/layout/process4"/>
    <dgm:cxn modelId="{4C079ADB-AFD1-4620-8781-54F11D7B06F0}" type="presOf" srcId="{4F8128F7-0F67-45BC-B7B7-0BA5E3783B4D}" destId="{213DF237-505B-479F-A651-6C2C95F510CB}" srcOrd="0" destOrd="0" presId="urn:microsoft.com/office/officeart/2005/8/layout/process4"/>
    <dgm:cxn modelId="{14C58FE9-675F-4115-A542-A6F171A08A8E}" srcId="{526EE230-8E0E-416D-B5EF-B15B56B4466C}" destId="{0E0969DF-D536-4174-889F-8CC67A7C478C}" srcOrd="1" destOrd="0" parTransId="{22B33722-51AF-48E5-B524-0258FEE337F9}" sibTransId="{3E9CD623-5EE3-443C-A3DA-F34A399BE7EE}"/>
    <dgm:cxn modelId="{AB3B817B-98E8-47E6-81A2-DB7E5D4111A2}" type="presParOf" srcId="{1120C334-0065-495B-9F79-C99239BECD6D}" destId="{66C912BC-E23E-4A06-A6F5-44366F979C4C}" srcOrd="0" destOrd="0" presId="urn:microsoft.com/office/officeart/2005/8/layout/process4"/>
    <dgm:cxn modelId="{4D7E9967-ECE9-4F0B-B22D-F47DCF950866}" type="presParOf" srcId="{66C912BC-E23E-4A06-A6F5-44366F979C4C}" destId="{A546CDC4-0C76-471E-8404-57990F7D98E2}" srcOrd="0" destOrd="0" presId="urn:microsoft.com/office/officeart/2005/8/layout/process4"/>
    <dgm:cxn modelId="{7CAE308B-7B68-4C13-AA8F-ECFACE90149D}" type="presParOf" srcId="{1120C334-0065-495B-9F79-C99239BECD6D}" destId="{1E637B36-194D-474B-94F0-A14478157B8E}" srcOrd="1" destOrd="0" presId="urn:microsoft.com/office/officeart/2005/8/layout/process4"/>
    <dgm:cxn modelId="{6C276014-F83B-4950-AF27-63694D90B734}" type="presParOf" srcId="{1120C334-0065-495B-9F79-C99239BECD6D}" destId="{1980E204-CA73-4434-AD74-03AED8667A77}" srcOrd="2" destOrd="0" presId="urn:microsoft.com/office/officeart/2005/8/layout/process4"/>
    <dgm:cxn modelId="{F2B13F16-36ED-4F0C-A21E-1C240286FCD3}" type="presParOf" srcId="{1980E204-CA73-4434-AD74-03AED8667A77}" destId="{C61C6585-0F6A-4CC2-A8EA-CD9CF88DEB48}" srcOrd="0" destOrd="0" presId="urn:microsoft.com/office/officeart/2005/8/layout/process4"/>
    <dgm:cxn modelId="{DD93DD59-84C6-442F-AF06-B79F98C973AD}" type="presParOf" srcId="{1120C334-0065-495B-9F79-C99239BECD6D}" destId="{7CF6A11E-8A87-49DA-8745-20960286B808}" srcOrd="3" destOrd="0" presId="urn:microsoft.com/office/officeart/2005/8/layout/process4"/>
    <dgm:cxn modelId="{FE112E06-D492-4072-9E97-3BF55C7A620F}" type="presParOf" srcId="{1120C334-0065-495B-9F79-C99239BECD6D}" destId="{7030D88A-723D-4D95-9795-26BE4BAC1278}" srcOrd="4" destOrd="0" presId="urn:microsoft.com/office/officeart/2005/8/layout/process4"/>
    <dgm:cxn modelId="{C8C668AF-EF8D-4AA7-A1CD-84B7D8239313}" type="presParOf" srcId="{7030D88A-723D-4D95-9795-26BE4BAC1278}" destId="{815F325C-BB52-4D2D-8395-9C7F787DDDA9}" srcOrd="0" destOrd="0" presId="urn:microsoft.com/office/officeart/2005/8/layout/process4"/>
    <dgm:cxn modelId="{F3471FB0-6FEF-4AC8-B90A-C5BE7E79AF8B}" type="presParOf" srcId="{1120C334-0065-495B-9F79-C99239BECD6D}" destId="{2AC8F5DA-12C0-4B92-B26E-B8D36D2B5562}" srcOrd="5" destOrd="0" presId="urn:microsoft.com/office/officeart/2005/8/layout/process4"/>
    <dgm:cxn modelId="{ACEBF043-DF01-4492-BBFC-0EC3BDC58E63}" type="presParOf" srcId="{1120C334-0065-495B-9F79-C99239BECD6D}" destId="{73ADC4E4-DA11-41C3-B342-F39A62C924D3}" srcOrd="6" destOrd="0" presId="urn:microsoft.com/office/officeart/2005/8/layout/process4"/>
    <dgm:cxn modelId="{0DD90093-D896-49E1-906E-E32CD75B9429}" type="presParOf" srcId="{73ADC4E4-DA11-41C3-B342-F39A62C924D3}" destId="{8DC15068-E803-4949-852B-E8C9CC3CBFD0}" srcOrd="0" destOrd="0" presId="urn:microsoft.com/office/officeart/2005/8/layout/process4"/>
    <dgm:cxn modelId="{4B1745A8-EF7C-452E-ADC8-388F2E54CF10}" type="presParOf" srcId="{1120C334-0065-495B-9F79-C99239BECD6D}" destId="{D4FE7BFE-AA24-4155-A148-571BBA9E7BB6}" srcOrd="7" destOrd="0" presId="urn:microsoft.com/office/officeart/2005/8/layout/process4"/>
    <dgm:cxn modelId="{65663BB5-0891-4CDA-93BF-44FF84BE2DB5}" type="presParOf" srcId="{1120C334-0065-495B-9F79-C99239BECD6D}" destId="{B4C3FAD7-5D1A-4CCD-9EB5-4B1A7D32BBB2}" srcOrd="8" destOrd="0" presId="urn:microsoft.com/office/officeart/2005/8/layout/process4"/>
    <dgm:cxn modelId="{CBF762E2-AF59-456C-A363-B91761565A7A}" type="presParOf" srcId="{B4C3FAD7-5D1A-4CCD-9EB5-4B1A7D32BBB2}" destId="{213DF237-505B-479F-A651-6C2C95F510CB}"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0FDEAA-A3E8-4D82-86C7-4B23AA507EF4}">
      <dsp:nvSpPr>
        <dsp:cNvPr id="0" name=""/>
        <dsp:cNvSpPr/>
      </dsp:nvSpPr>
      <dsp:spPr>
        <a:xfrm>
          <a:off x="1029" y="856121"/>
          <a:ext cx="1293595" cy="72913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tx1"/>
              </a:solidFill>
            </a:rPr>
            <a:t>Data collection</a:t>
          </a:r>
        </a:p>
      </dsp:txBody>
      <dsp:txXfrm>
        <a:off x="1029" y="856121"/>
        <a:ext cx="1293595" cy="486088"/>
      </dsp:txXfrm>
    </dsp:sp>
    <dsp:sp modelId="{91A1B70A-E66A-4A1E-94AF-8ECEDA4FCD7E}">
      <dsp:nvSpPr>
        <dsp:cNvPr id="0" name=""/>
        <dsp:cNvSpPr/>
      </dsp:nvSpPr>
      <dsp:spPr>
        <a:xfrm>
          <a:off x="265982" y="1342209"/>
          <a:ext cx="1293595" cy="2435399"/>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None/>
          </a:pPr>
          <a:r>
            <a:rPr lang="en-US" sz="1100" kern="1200" dirty="0"/>
            <a:t>Customer transaction data is collected from structured datasets representing real-world purchasing behavior.</a:t>
          </a:r>
          <a:endParaRPr lang="en-IN" sz="1100" kern="1200" dirty="0"/>
        </a:p>
      </dsp:txBody>
      <dsp:txXfrm>
        <a:off x="303870" y="1380097"/>
        <a:ext cx="1217819" cy="2359623"/>
      </dsp:txXfrm>
    </dsp:sp>
    <dsp:sp modelId="{C8656852-8182-409B-87AC-5F1A5791A8B1}">
      <dsp:nvSpPr>
        <dsp:cNvPr id="0" name=""/>
        <dsp:cNvSpPr/>
      </dsp:nvSpPr>
      <dsp:spPr>
        <a:xfrm>
          <a:off x="1490729" y="938131"/>
          <a:ext cx="415741" cy="32206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1490729" y="1002544"/>
        <a:ext cx="319121" cy="193241"/>
      </dsp:txXfrm>
    </dsp:sp>
    <dsp:sp modelId="{CAA6119F-D6BC-4738-B014-9015184F40F5}">
      <dsp:nvSpPr>
        <dsp:cNvPr id="0" name=""/>
        <dsp:cNvSpPr/>
      </dsp:nvSpPr>
      <dsp:spPr>
        <a:xfrm>
          <a:off x="2079042" y="856121"/>
          <a:ext cx="1293595" cy="729132"/>
        </a:xfrm>
        <a:prstGeom prst="roundRect">
          <a:avLst>
            <a:gd name="adj" fmla="val 10000"/>
          </a:avLst>
        </a:prstGeom>
        <a:solidFill>
          <a:schemeClr val="accent2">
            <a:hueOff val="4316146"/>
            <a:satOff val="667"/>
            <a:lumOff val="26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tx1"/>
              </a:solidFill>
            </a:rPr>
            <a:t>Data analytics using Python</a:t>
          </a:r>
        </a:p>
      </dsp:txBody>
      <dsp:txXfrm>
        <a:off x="2079042" y="856121"/>
        <a:ext cx="1293595" cy="486088"/>
      </dsp:txXfrm>
    </dsp:sp>
    <dsp:sp modelId="{EC91C1E3-5F85-46E1-8075-A5B78C5B3C47}">
      <dsp:nvSpPr>
        <dsp:cNvPr id="0" name=""/>
        <dsp:cNvSpPr/>
      </dsp:nvSpPr>
      <dsp:spPr>
        <a:xfrm>
          <a:off x="2343995" y="1342209"/>
          <a:ext cx="1293595" cy="2435399"/>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4316146"/>
              <a:satOff val="667"/>
              <a:lumOff val="26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None/>
          </a:pPr>
          <a:r>
            <a:rPr lang="en-US" sz="1100" kern="1200" dirty="0"/>
            <a:t>The collected data is analyzed in </a:t>
          </a:r>
          <a:r>
            <a:rPr lang="en-US" sz="1100" b="1" kern="1200" dirty="0"/>
            <a:t>Google </a:t>
          </a:r>
          <a:r>
            <a:rPr lang="en-US" sz="1100" b="1" kern="1200" dirty="0" err="1"/>
            <a:t>Colab</a:t>
          </a:r>
          <a:r>
            <a:rPr lang="en-US" sz="1100" b="1" kern="1200" dirty="0"/>
            <a:t> using Python </a:t>
          </a:r>
          <a:r>
            <a:rPr lang="en-US" sz="1100" kern="1200" dirty="0"/>
            <a:t>libraries to perform data cleaning, exploratory analysis.</a:t>
          </a:r>
          <a:endParaRPr lang="en-IN" sz="1100" kern="1200" dirty="0"/>
        </a:p>
      </dsp:txBody>
      <dsp:txXfrm>
        <a:off x="2381883" y="1380097"/>
        <a:ext cx="1217819" cy="2359623"/>
      </dsp:txXfrm>
    </dsp:sp>
    <dsp:sp modelId="{FDB2F0A2-9871-4422-A484-8D6780C07C48}">
      <dsp:nvSpPr>
        <dsp:cNvPr id="0" name=""/>
        <dsp:cNvSpPr/>
      </dsp:nvSpPr>
      <dsp:spPr>
        <a:xfrm>
          <a:off x="3568742" y="938131"/>
          <a:ext cx="415741" cy="322067"/>
        </a:xfrm>
        <a:prstGeom prst="rightArrow">
          <a:avLst>
            <a:gd name="adj1" fmla="val 60000"/>
            <a:gd name="adj2" fmla="val 50000"/>
          </a:avLst>
        </a:prstGeom>
        <a:solidFill>
          <a:schemeClr val="accent2">
            <a:hueOff val="6474219"/>
            <a:satOff val="1001"/>
            <a:lumOff val="392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3568742" y="1002544"/>
        <a:ext cx="319121" cy="193241"/>
      </dsp:txXfrm>
    </dsp:sp>
    <dsp:sp modelId="{0AF1DE99-B996-432F-A0A4-43A7CBDE4B93}">
      <dsp:nvSpPr>
        <dsp:cNvPr id="0" name=""/>
        <dsp:cNvSpPr/>
      </dsp:nvSpPr>
      <dsp:spPr>
        <a:xfrm>
          <a:off x="4157055" y="856121"/>
          <a:ext cx="1293595" cy="729132"/>
        </a:xfrm>
        <a:prstGeom prst="roundRect">
          <a:avLst>
            <a:gd name="adj" fmla="val 10000"/>
          </a:avLst>
        </a:prstGeom>
        <a:solidFill>
          <a:schemeClr val="accent2">
            <a:hueOff val="8632292"/>
            <a:satOff val="1335"/>
            <a:lumOff val="52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tx1"/>
              </a:solidFill>
            </a:rPr>
            <a:t>Customer </a:t>
          </a:r>
          <a:r>
            <a:rPr lang="en-IN" sz="1100" kern="1200" dirty="0" err="1">
              <a:solidFill>
                <a:schemeClr val="tx1"/>
              </a:solidFill>
            </a:rPr>
            <a:t>segementation</a:t>
          </a:r>
          <a:endParaRPr lang="en-IN" sz="1100" kern="1200" dirty="0">
            <a:solidFill>
              <a:schemeClr val="tx1"/>
            </a:solidFill>
          </a:endParaRPr>
        </a:p>
      </dsp:txBody>
      <dsp:txXfrm>
        <a:off x="4157055" y="856121"/>
        <a:ext cx="1293595" cy="486088"/>
      </dsp:txXfrm>
    </dsp:sp>
    <dsp:sp modelId="{E5497A1F-CA04-4235-A42D-6DA94D699014}">
      <dsp:nvSpPr>
        <dsp:cNvPr id="0" name=""/>
        <dsp:cNvSpPr/>
      </dsp:nvSpPr>
      <dsp:spPr>
        <a:xfrm>
          <a:off x="4422008" y="1342209"/>
          <a:ext cx="1293595" cy="2435399"/>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8632292"/>
              <a:satOff val="1335"/>
              <a:lumOff val="522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None/>
          </a:pPr>
          <a:r>
            <a:rPr lang="en-US" sz="1100" kern="1200" dirty="0"/>
            <a:t>Customers are divided into groups based on their buying behavior, purchase frequency, and preferences to enable better analysis and targeted strategies.</a:t>
          </a:r>
          <a:endParaRPr lang="en-IN" sz="1100" kern="1200" dirty="0"/>
        </a:p>
      </dsp:txBody>
      <dsp:txXfrm>
        <a:off x="4459896" y="1380097"/>
        <a:ext cx="1217819" cy="2359623"/>
      </dsp:txXfrm>
    </dsp:sp>
    <dsp:sp modelId="{8FB3BA93-7003-49B4-9B3B-5FEE4F0011D5}">
      <dsp:nvSpPr>
        <dsp:cNvPr id="0" name=""/>
        <dsp:cNvSpPr/>
      </dsp:nvSpPr>
      <dsp:spPr>
        <a:xfrm>
          <a:off x="5646755" y="938131"/>
          <a:ext cx="415741" cy="322067"/>
        </a:xfrm>
        <a:prstGeom prst="rightArrow">
          <a:avLst>
            <a:gd name="adj1" fmla="val 60000"/>
            <a:gd name="adj2" fmla="val 50000"/>
          </a:avLst>
        </a:prstGeom>
        <a:solidFill>
          <a:schemeClr val="accent2">
            <a:hueOff val="12948438"/>
            <a:satOff val="2002"/>
            <a:lumOff val="784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5646755" y="1002544"/>
        <a:ext cx="319121" cy="193241"/>
      </dsp:txXfrm>
    </dsp:sp>
    <dsp:sp modelId="{6FE33ADD-F987-43CF-8C12-DF7D960FFD3D}">
      <dsp:nvSpPr>
        <dsp:cNvPr id="0" name=""/>
        <dsp:cNvSpPr/>
      </dsp:nvSpPr>
      <dsp:spPr>
        <a:xfrm>
          <a:off x="6235068" y="856121"/>
          <a:ext cx="1293595" cy="729132"/>
        </a:xfrm>
        <a:prstGeom prst="roundRect">
          <a:avLst>
            <a:gd name="adj" fmla="val 10000"/>
          </a:avLst>
        </a:prstGeom>
        <a:solidFill>
          <a:schemeClr val="accent2">
            <a:hueOff val="12948438"/>
            <a:satOff val="2002"/>
            <a:lumOff val="784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IN" sz="1100" kern="1200" dirty="0">
              <a:solidFill>
                <a:schemeClr val="tx1"/>
              </a:solidFill>
            </a:rPr>
            <a:t>Visualization &amp; insights</a:t>
          </a:r>
        </a:p>
      </dsp:txBody>
      <dsp:txXfrm>
        <a:off x="6235068" y="856121"/>
        <a:ext cx="1293595" cy="486088"/>
      </dsp:txXfrm>
    </dsp:sp>
    <dsp:sp modelId="{1AB47F30-E07B-4F72-A2C6-BE2B6E01EC5E}">
      <dsp:nvSpPr>
        <dsp:cNvPr id="0" name=""/>
        <dsp:cNvSpPr/>
      </dsp:nvSpPr>
      <dsp:spPr>
        <a:xfrm>
          <a:off x="6500022" y="1342209"/>
          <a:ext cx="1293595" cy="2435399"/>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12948438"/>
              <a:satOff val="2002"/>
              <a:lumOff val="784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None/>
          </a:pPr>
          <a:r>
            <a:rPr lang="en-US" sz="1100" b="1" kern="1200" dirty="0"/>
            <a:t>Power BI </a:t>
          </a:r>
          <a:r>
            <a:rPr lang="en-US" sz="1100" kern="1200" dirty="0"/>
            <a:t>is used to create interactive dashboards that visualize customer behavior patterns and support business decision-making.</a:t>
          </a:r>
          <a:endParaRPr lang="en-IN" sz="1100" kern="1200" dirty="0">
            <a:solidFill>
              <a:schemeClr val="tx1"/>
            </a:solidFill>
          </a:endParaRPr>
        </a:p>
      </dsp:txBody>
      <dsp:txXfrm>
        <a:off x="6537910" y="1380097"/>
        <a:ext cx="1217819" cy="23596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46CDC4-0C76-471E-8404-57990F7D98E2}">
      <dsp:nvSpPr>
        <dsp:cNvPr id="0" name=""/>
        <dsp:cNvSpPr/>
      </dsp:nvSpPr>
      <dsp:spPr>
        <a:xfrm>
          <a:off x="0" y="3002933"/>
          <a:ext cx="7964488" cy="492656"/>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a:t>Business Dashboard</a:t>
          </a:r>
          <a:endParaRPr lang="en-IN" sz="1600" kern="1200" dirty="0"/>
        </a:p>
      </dsp:txBody>
      <dsp:txXfrm>
        <a:off x="0" y="3002933"/>
        <a:ext cx="7964488" cy="492656"/>
      </dsp:txXfrm>
    </dsp:sp>
    <dsp:sp modelId="{C61C6585-0F6A-4CC2-A8EA-CD9CF88DEB48}">
      <dsp:nvSpPr>
        <dsp:cNvPr id="0" name=""/>
        <dsp:cNvSpPr/>
      </dsp:nvSpPr>
      <dsp:spPr>
        <a:xfrm rot="10800000">
          <a:off x="0" y="2252618"/>
          <a:ext cx="7964488" cy="757705"/>
        </a:xfrm>
        <a:prstGeom prst="upArrowCallout">
          <a:avLst/>
        </a:prstGeom>
        <a:solidFill>
          <a:schemeClr val="accent3">
            <a:hueOff val="-2296807"/>
            <a:satOff val="-3259"/>
            <a:lumOff val="-21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dirty="0"/>
            <a:t>Customer Segmentation </a:t>
          </a:r>
        </a:p>
      </dsp:txBody>
      <dsp:txXfrm rot="10800000">
        <a:off x="0" y="2252618"/>
        <a:ext cx="7964488" cy="492334"/>
      </dsp:txXfrm>
    </dsp:sp>
    <dsp:sp modelId="{815F325C-BB52-4D2D-8395-9C7F787DDDA9}">
      <dsp:nvSpPr>
        <dsp:cNvPr id="0" name=""/>
        <dsp:cNvSpPr/>
      </dsp:nvSpPr>
      <dsp:spPr>
        <a:xfrm rot="10800000">
          <a:off x="0" y="1502302"/>
          <a:ext cx="7964488" cy="757705"/>
        </a:xfrm>
        <a:prstGeom prst="upArrowCallout">
          <a:avLst/>
        </a:prstGeom>
        <a:solidFill>
          <a:schemeClr val="accent3">
            <a:hueOff val="-4593614"/>
            <a:satOff val="-6518"/>
            <a:lumOff val="-421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dirty="0"/>
            <a:t>EDA  Analysis</a:t>
          </a:r>
        </a:p>
      </dsp:txBody>
      <dsp:txXfrm rot="10800000">
        <a:off x="0" y="1502302"/>
        <a:ext cx="7964488" cy="492334"/>
      </dsp:txXfrm>
    </dsp:sp>
    <dsp:sp modelId="{8DC15068-E803-4949-852B-E8C9CC3CBFD0}">
      <dsp:nvSpPr>
        <dsp:cNvPr id="0" name=""/>
        <dsp:cNvSpPr/>
      </dsp:nvSpPr>
      <dsp:spPr>
        <a:xfrm rot="10800000">
          <a:off x="0" y="751987"/>
          <a:ext cx="7964488" cy="757705"/>
        </a:xfrm>
        <a:prstGeom prst="upArrowCallout">
          <a:avLst/>
        </a:prstGeom>
        <a:solidFill>
          <a:schemeClr val="accent3">
            <a:hueOff val="-6890420"/>
            <a:satOff val="-9777"/>
            <a:lumOff val="-63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dirty="0"/>
            <a:t>Data Cleaning &amp; Processing</a:t>
          </a:r>
        </a:p>
      </dsp:txBody>
      <dsp:txXfrm rot="10800000">
        <a:off x="0" y="751987"/>
        <a:ext cx="7964488" cy="492334"/>
      </dsp:txXfrm>
    </dsp:sp>
    <dsp:sp modelId="{213DF237-505B-479F-A651-6C2C95F510CB}">
      <dsp:nvSpPr>
        <dsp:cNvPr id="0" name=""/>
        <dsp:cNvSpPr/>
      </dsp:nvSpPr>
      <dsp:spPr>
        <a:xfrm rot="10800000">
          <a:off x="0" y="1671"/>
          <a:ext cx="7964488" cy="757705"/>
        </a:xfrm>
        <a:prstGeom prst="upArrowCallout">
          <a:avLst/>
        </a:prstGeom>
        <a:solidFill>
          <a:schemeClr val="accent3">
            <a:hueOff val="-9187227"/>
            <a:satOff val="-13036"/>
            <a:lumOff val="-8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IN" sz="1600" kern="1200" dirty="0"/>
            <a:t>Raw Transaction Data</a:t>
          </a:r>
        </a:p>
      </dsp:txBody>
      <dsp:txXfrm rot="10800000">
        <a:off x="0" y="1671"/>
        <a:ext cx="7964488" cy="4923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6A97A-6D95-5233-60B6-BC9964895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8D898-3E51-D393-CC8F-42E0BF567D15}"/>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614D8EA-D829-6241-1A62-BB80301DE3F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885859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FBCEB-F21B-9F7A-4E1E-8B1586D3C0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807AB-7959-E8A2-B405-4C14280DCB1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4DD7D8F-C1B9-540D-6064-80C3B760511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042459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8C1CD-C319-F7DC-6794-4545ACF82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C4A5D-CEF5-6A68-CEE6-1A51B1CDFE5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E753D7B-4307-8A4E-C35B-AB3D9FA5793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19390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tel:2320030038"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sz="2800" dirty="0"/>
              <a:t>Smart Customer Purchase Analytics &amp; Recommendation System</a:t>
            </a:r>
          </a:p>
        </p:txBody>
      </p:sp>
      <p:sp>
        <p:nvSpPr>
          <p:cNvPr id="3" name="TextBox 2">
            <a:extLst>
              <a:ext uri="{FF2B5EF4-FFF2-40B4-BE49-F238E27FC236}">
                <a16:creationId xmlns:a16="http://schemas.microsoft.com/office/drawing/2014/main" id="{16C043C0-9C48-7095-56E2-8B6718F62304}"/>
              </a:ext>
            </a:extLst>
          </p:cNvPr>
          <p:cNvSpPr txBox="1"/>
          <p:nvPr/>
        </p:nvSpPr>
        <p:spPr>
          <a:xfrm>
            <a:off x="3342967" y="5486400"/>
            <a:ext cx="5506065" cy="923330"/>
          </a:xfrm>
          <a:prstGeom prst="rect">
            <a:avLst/>
          </a:prstGeom>
          <a:noFill/>
        </p:spPr>
        <p:txBody>
          <a:bodyPr wrap="square" rtlCol="0">
            <a:spAutoFit/>
          </a:bodyPr>
          <a:lstStyle/>
          <a:p>
            <a:pPr algn="ctr"/>
            <a:r>
              <a:rPr lang="en-IN" dirty="0">
                <a:solidFill>
                  <a:schemeClr val="bg1"/>
                </a:solidFill>
              </a:rPr>
              <a:t>KEERTHI LAXMI VINAY- 2320030188</a:t>
            </a:r>
          </a:p>
          <a:p>
            <a:pPr algn="ctr"/>
            <a:r>
              <a:rPr lang="en-IN" dirty="0">
                <a:solidFill>
                  <a:schemeClr val="bg1"/>
                </a:solidFill>
              </a:rPr>
              <a:t>LAKSHMI PRASANNA- 2320030387 </a:t>
            </a:r>
          </a:p>
          <a:p>
            <a:pPr algn="ctr"/>
            <a:r>
              <a:rPr lang="en-IN" dirty="0">
                <a:solidFill>
                  <a:schemeClr val="bg1"/>
                </a:solidFill>
              </a:rPr>
              <a:t>GOPISETTI VENKATA SREE PADMAJA - </a:t>
            </a:r>
            <a:r>
              <a:rPr lang="en-IN" dirty="0">
                <a:solidFill>
                  <a:schemeClr val="bg1"/>
                </a:solidFill>
                <a:hlinkClick r:id="rId3">
                  <a:extLst>
                    <a:ext uri="{A12FA001-AC4F-418D-AE19-62706E023703}">
                      <ahyp:hlinkClr xmlns:ahyp="http://schemas.microsoft.com/office/drawing/2018/hyperlinkcolor" val="tx"/>
                    </a:ext>
                  </a:extLst>
                </a:hlinkClick>
              </a:rPr>
              <a:t>2320030038</a:t>
            </a:r>
            <a:endParaRPr lang="en-IN" dirty="0">
              <a:solidFill>
                <a:schemeClr val="bg1"/>
              </a:solidFill>
            </a:endParaRP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63009"/>
            <a:ext cx="6583680" cy="1531357"/>
          </a:xfrm>
        </p:spPr>
        <p:txBody>
          <a:bodyPr/>
          <a:lstStyle/>
          <a:p>
            <a:r>
              <a:rPr lang="en-US" dirty="0"/>
              <a:t>Introduction</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1989333"/>
            <a:ext cx="6583680" cy="4347618"/>
          </a:xfrm>
        </p:spPr>
        <p:txBody>
          <a:bodyPr>
            <a:normAutofit fontScale="62500" lnSpcReduction="20000"/>
          </a:bodyPr>
          <a:lstStyle/>
          <a:p>
            <a:r>
              <a:rPr lang="en-US" b="1" dirty="0">
                <a:latin typeface="Times New Roman" panose="02020603050405020304" pitchFamily="18" charset="0"/>
                <a:cs typeface="Times New Roman" panose="02020603050405020304" pitchFamily="18" charset="0"/>
              </a:rPr>
              <a:t>Problem Statement :</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Large amount of customer transaction data is generated </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Raw data does not provide useful insights directly </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Difficult to analyze customer behavior and buying patterns </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Manual analysis is time-consuming and inefficient </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Motivation :</a:t>
            </a:r>
          </a:p>
          <a:p>
            <a:r>
              <a:rPr lang="en-US" dirty="0">
                <a:latin typeface="Times New Roman" panose="02020603050405020304" pitchFamily="18" charset="0"/>
                <a:cs typeface="Times New Roman" panose="02020603050405020304" pitchFamily="18" charset="0"/>
              </a:rPr>
              <a:t>Understanding customer behavior helps improve: </a:t>
            </a:r>
          </a:p>
          <a:p>
            <a:pPr lvl="1"/>
            <a:r>
              <a:rPr lang="en-US" dirty="0">
                <a:latin typeface="Times New Roman" panose="02020603050405020304" pitchFamily="18" charset="0"/>
                <a:cs typeface="Times New Roman" panose="02020603050405020304" pitchFamily="18" charset="0"/>
              </a:rPr>
              <a:t>Marketing strategies </a:t>
            </a:r>
          </a:p>
          <a:p>
            <a:pPr lvl="1"/>
            <a:r>
              <a:rPr lang="en-US" dirty="0">
                <a:latin typeface="Times New Roman" panose="02020603050405020304" pitchFamily="18" charset="0"/>
                <a:cs typeface="Times New Roman" panose="02020603050405020304" pitchFamily="18" charset="0"/>
              </a:rPr>
              <a:t>Customer retention </a:t>
            </a:r>
          </a:p>
          <a:p>
            <a:pPr lvl="1"/>
            <a:r>
              <a:rPr lang="en-US" dirty="0">
                <a:latin typeface="Times New Roman" panose="02020603050405020304" pitchFamily="18" charset="0"/>
                <a:cs typeface="Times New Roman" panose="02020603050405020304" pitchFamily="18" charset="0"/>
              </a:rPr>
              <a:t>Business revenue </a:t>
            </a:r>
          </a:p>
          <a:p>
            <a:r>
              <a:rPr lang="en-US" dirty="0">
                <a:latin typeface="Times New Roman" panose="02020603050405020304" pitchFamily="18" charset="0"/>
                <a:cs typeface="Times New Roman" panose="02020603050405020304" pitchFamily="18" charset="0"/>
              </a:rPr>
              <a:t>Data analytics provides clear insights from data Recommendation systems help in better product suggestions.</a:t>
            </a:r>
          </a:p>
          <a:p>
            <a:pPr marL="342900" indent="-342900">
              <a:buFont typeface="Arial" panose="020B0604020202020204" pitchFamily="34" charset="0"/>
              <a:buChar char="•"/>
            </a:pPr>
            <a:endParaRPr lang="en-US" sz="1500"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2202157" y="216309"/>
            <a:ext cx="5723586" cy="1464701"/>
          </a:xfrm>
        </p:spPr>
        <p:txBody>
          <a:bodyPr/>
          <a:lstStyle/>
          <a:p>
            <a:pPr algn="ctr"/>
            <a:r>
              <a:rPr lang="en-IN" dirty="0"/>
              <a:t>ABSTRACT</a:t>
            </a:r>
            <a:endParaRPr lang="en-US" dirty="0"/>
          </a:p>
        </p:txBody>
      </p:sp>
      <p:sp>
        <p:nvSpPr>
          <p:cNvPr id="5" name="Content Placeholder 2">
            <a:extLst>
              <a:ext uri="{FF2B5EF4-FFF2-40B4-BE49-F238E27FC236}">
                <a16:creationId xmlns:a16="http://schemas.microsoft.com/office/drawing/2014/main" id="{F0FC3FD3-B20C-8DDA-73B4-A4E8C00DB98E}"/>
              </a:ext>
            </a:extLst>
          </p:cNvPr>
          <p:cNvSpPr txBox="1">
            <a:spLocks/>
          </p:cNvSpPr>
          <p:nvPr/>
        </p:nvSpPr>
        <p:spPr>
          <a:xfrm>
            <a:off x="914400" y="1694366"/>
            <a:ext cx="8465574" cy="4347618"/>
          </a:xfrm>
          <a:prstGeom prst="rect">
            <a:avLst/>
          </a:prstGeom>
        </p:spPr>
        <p:txBody>
          <a:bodyPr>
            <a:normAutofit fontScale="92500" lnSpcReduction="20000"/>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000" dirty="0">
                <a:latin typeface="Times New Roman" panose="02020603050405020304" pitchFamily="18" charset="0"/>
                <a:cs typeface="Times New Roman" panose="02020603050405020304" pitchFamily="18" charset="0"/>
              </a:rPr>
              <a:t>The Smart Customer Purchase Analytics &amp; Recommendation System is a data analytics project that focuses on analyzing customer purchase behavior using big data analytics techniques. In today’s digital retail environment, organizations generate large volumes of transactional data that contain valuable information about customer preferences, buying patterns, and product performance. However, without proper analysis, this data cannot be effectively utilized for decision-making. This project uses historical customer purchase data to perform data cleaning, integration, and exploratory data analysis. Various analytical techniques are applied to study sales trends, customer segmentation, product-wise performance, and purchasing frequency. Data visualization tools are used to present insights through graphs and charts such as sales trends, category-wise revenue, and customer spending patterns. In addition, a basic rule-based recommendation approach is implemented to suggest products based on customer purchase history and frequently bought items. The system helps identify high-value customers, popular products, and potential cross-selling opportunities. This project demonstrates how big data analytics and visualization can support data-driven business decisions and serve as a foundation for intelligent recommendation systems in real-world retail applications.</a:t>
            </a:r>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9E2C93-EC3A-B817-977A-649949CD886F}"/>
              </a:ext>
            </a:extLst>
          </p:cNvPr>
          <p:cNvPicPr>
            <a:picLocks noChangeAspect="1"/>
          </p:cNvPicPr>
          <p:nvPr/>
        </p:nvPicPr>
        <p:blipFill>
          <a:blip r:embed="rId2"/>
          <a:stretch>
            <a:fillRect/>
          </a:stretch>
        </p:blipFill>
        <p:spPr>
          <a:xfrm>
            <a:off x="0" y="1"/>
            <a:ext cx="12192000" cy="6858000"/>
          </a:xfrm>
          <a:prstGeom prst="rect">
            <a:avLst/>
          </a:prstGeom>
        </p:spPr>
      </p:pic>
    </p:spTree>
    <p:extLst>
      <p:ext uri="{BB962C8B-B14F-4D97-AF65-F5344CB8AC3E}">
        <p14:creationId xmlns:p14="http://schemas.microsoft.com/office/powerpoint/2010/main" val="2113771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C3629E-62BA-39A5-568B-F3D328E67EA2}"/>
              </a:ext>
            </a:extLst>
          </p:cNvPr>
          <p:cNvPicPr>
            <a:picLocks noChangeAspect="1"/>
          </p:cNvPicPr>
          <p:nvPr/>
        </p:nvPicPr>
        <p:blipFill>
          <a:blip r:embed="rId2"/>
          <a:stretch>
            <a:fillRect/>
          </a:stretch>
        </p:blipFill>
        <p:spPr>
          <a:xfrm>
            <a:off x="0" y="0"/>
            <a:ext cx="12192000" cy="6858001"/>
          </a:xfrm>
          <a:prstGeom prst="rect">
            <a:avLst/>
          </a:prstGeom>
        </p:spPr>
      </p:pic>
    </p:spTree>
    <p:extLst>
      <p:ext uri="{BB962C8B-B14F-4D97-AF65-F5344CB8AC3E}">
        <p14:creationId xmlns:p14="http://schemas.microsoft.com/office/powerpoint/2010/main" val="373168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FBC03-155B-311D-9441-F9280B7C9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F94EA8-FE44-CD93-8AD3-0C1CF20D1B7B}"/>
              </a:ext>
            </a:extLst>
          </p:cNvPr>
          <p:cNvSpPr>
            <a:spLocks noGrp="1"/>
          </p:cNvSpPr>
          <p:nvPr>
            <p:ph type="title"/>
          </p:nvPr>
        </p:nvSpPr>
        <p:spPr>
          <a:xfrm>
            <a:off x="2202157" y="216309"/>
            <a:ext cx="5723586" cy="1464701"/>
          </a:xfrm>
        </p:spPr>
        <p:txBody>
          <a:bodyPr/>
          <a:lstStyle/>
          <a:p>
            <a:pPr algn="ctr"/>
            <a:r>
              <a:rPr lang="en-IN" dirty="0"/>
              <a:t>Objectives</a:t>
            </a:r>
            <a:endParaRPr lang="en-US" dirty="0"/>
          </a:p>
        </p:txBody>
      </p:sp>
      <p:sp>
        <p:nvSpPr>
          <p:cNvPr id="5" name="Content Placeholder 2">
            <a:extLst>
              <a:ext uri="{FF2B5EF4-FFF2-40B4-BE49-F238E27FC236}">
                <a16:creationId xmlns:a16="http://schemas.microsoft.com/office/drawing/2014/main" id="{8D40A8D3-90CB-4958-F710-344C69E89D1E}"/>
              </a:ext>
            </a:extLst>
          </p:cNvPr>
          <p:cNvSpPr txBox="1">
            <a:spLocks/>
          </p:cNvSpPr>
          <p:nvPr/>
        </p:nvSpPr>
        <p:spPr>
          <a:xfrm>
            <a:off x="914400" y="1694366"/>
            <a:ext cx="8465574" cy="4347618"/>
          </a:xfrm>
          <a:prstGeom prst="rect">
            <a:avLst/>
          </a:prstGeom>
        </p:spPr>
        <p:txBody>
          <a:bodyPr>
            <a:normAutofit lnSpcReduction="10000"/>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Project Objectives :</a:t>
            </a:r>
          </a:p>
          <a:p>
            <a:r>
              <a:rPr lang="en-US" sz="2000" dirty="0">
                <a:latin typeface="Times New Roman" panose="02020603050405020304" pitchFamily="18" charset="0"/>
                <a:cs typeface="Times New Roman" panose="02020603050405020304" pitchFamily="18" charset="0"/>
              </a:rPr>
              <a:t>Analyze customer purchase behavior using data analytics </a:t>
            </a:r>
          </a:p>
          <a:p>
            <a:r>
              <a:rPr lang="en-US" sz="2000" dirty="0">
                <a:latin typeface="Times New Roman" panose="02020603050405020304" pitchFamily="18" charset="0"/>
                <a:cs typeface="Times New Roman" panose="02020603050405020304" pitchFamily="18" charset="0"/>
              </a:rPr>
              <a:t>Perform customer segmentation based on buying patterns </a:t>
            </a:r>
          </a:p>
          <a:p>
            <a:r>
              <a:rPr lang="en-US" sz="2000" dirty="0">
                <a:latin typeface="Times New Roman" panose="02020603050405020304" pitchFamily="18" charset="0"/>
                <a:cs typeface="Times New Roman" panose="02020603050405020304" pitchFamily="18" charset="0"/>
              </a:rPr>
              <a:t>Identify sales trends and product performance </a:t>
            </a:r>
          </a:p>
          <a:p>
            <a:r>
              <a:rPr lang="en-US" sz="2000" dirty="0">
                <a:latin typeface="Times New Roman" panose="02020603050405020304" pitchFamily="18" charset="0"/>
                <a:cs typeface="Times New Roman" panose="02020603050405020304" pitchFamily="18" charset="0"/>
              </a:rPr>
              <a:t>Visualize insights using charts and dashboards </a:t>
            </a:r>
          </a:p>
          <a:p>
            <a:r>
              <a:rPr lang="en-US" sz="2000" dirty="0">
                <a:latin typeface="Times New Roman" panose="02020603050405020304" pitchFamily="18" charset="0"/>
                <a:cs typeface="Times New Roman" panose="02020603050405020304" pitchFamily="18" charset="0"/>
              </a:rPr>
              <a:t>Develop a basic recommendation system </a:t>
            </a:r>
          </a:p>
          <a:p>
            <a:pPr marL="0" indent="0">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Expected Outcomes :</a:t>
            </a:r>
          </a:p>
          <a:p>
            <a:r>
              <a:rPr lang="en-US" sz="2000" dirty="0">
                <a:latin typeface="Times New Roman" panose="02020603050405020304" pitchFamily="18" charset="0"/>
                <a:cs typeface="Times New Roman" panose="02020603050405020304" pitchFamily="18" charset="0"/>
              </a:rPr>
              <a:t>Identification of high-value customers </a:t>
            </a:r>
          </a:p>
          <a:p>
            <a:r>
              <a:rPr lang="en-US" sz="2000" dirty="0">
                <a:latin typeface="Times New Roman" panose="02020603050405020304" pitchFamily="18" charset="0"/>
                <a:cs typeface="Times New Roman" panose="02020603050405020304" pitchFamily="18" charset="0"/>
              </a:rPr>
              <a:t>Understanding customer buying patterns and frequency </a:t>
            </a:r>
          </a:p>
          <a:p>
            <a:r>
              <a:rPr lang="en-US" sz="2000" dirty="0">
                <a:latin typeface="Times New Roman" panose="02020603050405020304" pitchFamily="18" charset="0"/>
                <a:cs typeface="Times New Roman" panose="02020603050405020304" pitchFamily="18" charset="0"/>
              </a:rPr>
              <a:t>Improved product recommendations </a:t>
            </a:r>
          </a:p>
          <a:p>
            <a:r>
              <a:rPr lang="en-US" sz="2000" dirty="0">
                <a:latin typeface="Times New Roman" panose="02020603050405020304" pitchFamily="18" charset="0"/>
                <a:cs typeface="Times New Roman" panose="02020603050405020304" pitchFamily="18" charset="0"/>
              </a:rPr>
              <a:t>Better decision-making using data insights</a:t>
            </a:r>
          </a:p>
        </p:txBody>
      </p:sp>
    </p:spTree>
    <p:extLst>
      <p:ext uri="{BB962C8B-B14F-4D97-AF65-F5344CB8AC3E}">
        <p14:creationId xmlns:p14="http://schemas.microsoft.com/office/powerpoint/2010/main" val="1298692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2438400" y="-647807"/>
            <a:ext cx="6365331" cy="2495028"/>
          </a:xfrm>
        </p:spPr>
        <p:txBody>
          <a:bodyPr/>
          <a:lstStyle/>
          <a:p>
            <a:r>
              <a:rPr lang="en-IN" dirty="0"/>
              <a:t>Literature Survey</a:t>
            </a:r>
            <a:endParaRPr lang="en-US" dirty="0"/>
          </a:p>
        </p:txBody>
      </p:sp>
      <p:sp>
        <p:nvSpPr>
          <p:cNvPr id="9" name="Content Placeholder 2">
            <a:extLst>
              <a:ext uri="{FF2B5EF4-FFF2-40B4-BE49-F238E27FC236}">
                <a16:creationId xmlns:a16="http://schemas.microsoft.com/office/drawing/2014/main" id="{D9CA3A4A-1D20-80CB-AB72-6B4D93457049}"/>
              </a:ext>
            </a:extLst>
          </p:cNvPr>
          <p:cNvSpPr txBox="1">
            <a:spLocks/>
          </p:cNvSpPr>
          <p:nvPr/>
        </p:nvSpPr>
        <p:spPr>
          <a:xfrm>
            <a:off x="1388278" y="2412473"/>
            <a:ext cx="8465574" cy="4347618"/>
          </a:xfrm>
          <a:prstGeom prst="rect">
            <a:avLst/>
          </a:prstGeom>
        </p:spPr>
        <p:txBody>
          <a:bodyPr>
            <a:normAutofit/>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Existing Works :</a:t>
            </a:r>
          </a:p>
          <a:p>
            <a:r>
              <a:rPr lang="en-US" sz="2000" dirty="0">
                <a:latin typeface="Times New Roman" panose="02020603050405020304" pitchFamily="18" charset="0"/>
                <a:cs typeface="Times New Roman" panose="02020603050405020304" pitchFamily="18" charset="0"/>
              </a:rPr>
              <a:t>Traditional CRM systems provide static reports </a:t>
            </a:r>
          </a:p>
          <a:p>
            <a:r>
              <a:rPr lang="en-US" sz="2000" dirty="0">
                <a:latin typeface="Times New Roman" panose="02020603050405020304" pitchFamily="18" charset="0"/>
                <a:cs typeface="Times New Roman" panose="02020603050405020304" pitchFamily="18" charset="0"/>
              </a:rPr>
              <a:t>Many solutions use expensive analytics platforms </a:t>
            </a:r>
          </a:p>
          <a:p>
            <a:r>
              <a:rPr lang="en-US" sz="2000" dirty="0">
                <a:latin typeface="Times New Roman" panose="02020603050405020304" pitchFamily="18" charset="0"/>
                <a:cs typeface="Times New Roman" panose="02020603050405020304" pitchFamily="18" charset="0"/>
              </a:rPr>
              <a:t>Limited use of advanced data analytics </a:t>
            </a:r>
          </a:p>
          <a:p>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Gaps Identified :</a:t>
            </a:r>
          </a:p>
          <a:p>
            <a:r>
              <a:rPr lang="en-US" sz="2000" dirty="0">
                <a:latin typeface="Times New Roman" panose="02020603050405020304" pitchFamily="18" charset="0"/>
                <a:cs typeface="Times New Roman" panose="02020603050405020304" pitchFamily="18" charset="0"/>
              </a:rPr>
              <a:t>High infrastructure cost </a:t>
            </a:r>
          </a:p>
          <a:p>
            <a:r>
              <a:rPr lang="en-US" sz="2000" dirty="0">
                <a:latin typeface="Times New Roman" panose="02020603050405020304" pitchFamily="18" charset="0"/>
                <a:cs typeface="Times New Roman" panose="02020603050405020304" pitchFamily="18" charset="0"/>
              </a:rPr>
              <a:t>Complex system setup </a:t>
            </a:r>
          </a:p>
          <a:p>
            <a:r>
              <a:rPr lang="en-US" sz="2000" dirty="0">
                <a:latin typeface="Times New Roman" panose="02020603050405020304" pitchFamily="18" charset="0"/>
                <a:cs typeface="Times New Roman" panose="02020603050405020304" pitchFamily="18" charset="0"/>
              </a:rPr>
              <a:t>Limited accessibility for small businesses</a:t>
            </a:r>
          </a:p>
        </p:txBody>
      </p:sp>
    </p:spTree>
    <p:extLst>
      <p:ext uri="{BB962C8B-B14F-4D97-AF65-F5344CB8AC3E}">
        <p14:creationId xmlns:p14="http://schemas.microsoft.com/office/powerpoint/2010/main" val="2952923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02F87-B2F3-50B0-7ECD-008E1103DD3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6021F0A-876E-A7C5-D578-5BDF61B1DBBC}"/>
              </a:ext>
            </a:extLst>
          </p:cNvPr>
          <p:cNvSpPr>
            <a:spLocks noGrp="1"/>
          </p:cNvSpPr>
          <p:nvPr>
            <p:ph type="title"/>
          </p:nvPr>
        </p:nvSpPr>
        <p:spPr>
          <a:xfrm>
            <a:off x="1707879" y="464864"/>
            <a:ext cx="9879437" cy="980844"/>
          </a:xfrm>
        </p:spPr>
        <p:txBody>
          <a:bodyPr/>
          <a:lstStyle/>
          <a:p>
            <a:pPr algn="ctr"/>
            <a:r>
              <a:rPr lang="en-IN" sz="3200" dirty="0"/>
              <a:t>Proposed Solution</a:t>
            </a:r>
            <a:endParaRPr lang="en-US" sz="3000" dirty="0"/>
          </a:p>
        </p:txBody>
      </p:sp>
      <p:sp>
        <p:nvSpPr>
          <p:cNvPr id="4" name="Text Placeholder 3">
            <a:extLst>
              <a:ext uri="{FF2B5EF4-FFF2-40B4-BE49-F238E27FC236}">
                <a16:creationId xmlns:a16="http://schemas.microsoft.com/office/drawing/2014/main" id="{EC9F440D-5171-0B68-EF4A-0FBF60D077F9}"/>
              </a:ext>
            </a:extLst>
          </p:cNvPr>
          <p:cNvSpPr>
            <a:spLocks noGrp="1"/>
          </p:cNvSpPr>
          <p:nvPr>
            <p:ph type="body" sz="quarter" idx="13"/>
          </p:nvPr>
        </p:nvSpPr>
        <p:spPr>
          <a:xfrm>
            <a:off x="1550564" y="1946787"/>
            <a:ext cx="9520559" cy="4089437"/>
          </a:xfrm>
        </p:spPr>
        <p:txBody>
          <a:bodyPr/>
          <a:lstStyle/>
          <a:p>
            <a:r>
              <a:rPr lang="en-US" b="1" dirty="0">
                <a:latin typeface="Times New Roman" panose="02020603050405020304" pitchFamily="18" charset="0"/>
                <a:cs typeface="Times New Roman" panose="02020603050405020304" pitchFamily="18" charset="0"/>
              </a:rPr>
              <a:t>Proposed Solution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analytics system for customer purchase behavior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Converts raw transaction data into meaningful insights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data cleaning, analysis, and visualization techniques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in better decision-making and business understanding </a:t>
            </a:r>
          </a:p>
          <a:p>
            <a:r>
              <a:rPr lang="en-US" b="1" dirty="0">
                <a:latin typeface="Times New Roman" panose="02020603050405020304" pitchFamily="18" charset="0"/>
                <a:cs typeface="Times New Roman" panose="02020603050405020304" pitchFamily="18" charset="0"/>
              </a:rPr>
              <a:t>Key Highlights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Python for data analysis and customer segmentation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Performs sales trend and product performance analysis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charts and graphs for data visualization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Implements a rule-based recommendation system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Identifies high-value customers and buying patterns</a:t>
            </a:r>
          </a:p>
        </p:txBody>
      </p:sp>
    </p:spTree>
    <p:extLst>
      <p:ext uri="{BB962C8B-B14F-4D97-AF65-F5344CB8AC3E}">
        <p14:creationId xmlns:p14="http://schemas.microsoft.com/office/powerpoint/2010/main" val="3109429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95861"/>
            <a:ext cx="7965461" cy="994164"/>
          </a:xfrm>
        </p:spPr>
        <p:txBody>
          <a:bodyPr/>
          <a:lstStyle/>
          <a:p>
            <a:pPr algn="ctr"/>
            <a:r>
              <a:rPr lang="en-US" dirty="0" err="1"/>
              <a:t>Methedology</a:t>
            </a:r>
            <a:endParaRPr lang="en-US"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endParaRPr lang="en-US" dirty="0"/>
          </a:p>
        </p:txBody>
      </p:sp>
      <p:graphicFrame>
        <p:nvGraphicFramePr>
          <p:cNvPr id="6" name="Diagram 5">
            <a:extLst>
              <a:ext uri="{FF2B5EF4-FFF2-40B4-BE49-F238E27FC236}">
                <a16:creationId xmlns:a16="http://schemas.microsoft.com/office/drawing/2014/main" id="{980525D5-7C90-9370-F7BB-C59A1C6B97C4}"/>
              </a:ext>
            </a:extLst>
          </p:cNvPr>
          <p:cNvGraphicFramePr/>
          <p:nvPr>
            <p:extLst>
              <p:ext uri="{D42A27DB-BD31-4B8C-83A1-F6EECF244321}">
                <p14:modId xmlns:p14="http://schemas.microsoft.com/office/powerpoint/2010/main" val="2295610061"/>
              </p:ext>
            </p:extLst>
          </p:nvPr>
        </p:nvGraphicFramePr>
        <p:xfrm>
          <a:off x="3356076" y="1639249"/>
          <a:ext cx="7794647" cy="46337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85681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3514B5-D5E2-B837-56E4-3EB581B6BAB4}"/>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969996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5DDFD-2DC7-3312-036E-8AC49ACD262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C9F5340-794F-8B4C-89D4-2DD298BA1A46}"/>
              </a:ext>
            </a:extLst>
          </p:cNvPr>
          <p:cNvSpPr>
            <a:spLocks noGrp="1"/>
          </p:cNvSpPr>
          <p:nvPr>
            <p:ph type="title"/>
          </p:nvPr>
        </p:nvSpPr>
        <p:spPr>
          <a:xfrm>
            <a:off x="1707879" y="464864"/>
            <a:ext cx="9879437" cy="980844"/>
          </a:xfrm>
        </p:spPr>
        <p:txBody>
          <a:bodyPr/>
          <a:lstStyle/>
          <a:p>
            <a:r>
              <a:rPr lang="en-IN" sz="3000" dirty="0"/>
              <a:t>Expected Results &amp; Deliverables</a:t>
            </a:r>
            <a:endParaRPr lang="en-US" sz="3000" dirty="0"/>
          </a:p>
        </p:txBody>
      </p:sp>
      <p:sp>
        <p:nvSpPr>
          <p:cNvPr id="4" name="Text Placeholder 3">
            <a:extLst>
              <a:ext uri="{FF2B5EF4-FFF2-40B4-BE49-F238E27FC236}">
                <a16:creationId xmlns:a16="http://schemas.microsoft.com/office/drawing/2014/main" id="{9D74F120-475A-C2B8-2028-83153271675C}"/>
              </a:ext>
            </a:extLst>
          </p:cNvPr>
          <p:cNvSpPr>
            <a:spLocks noGrp="1"/>
          </p:cNvSpPr>
          <p:nvPr>
            <p:ph type="body" sz="quarter" idx="13"/>
          </p:nvPr>
        </p:nvSpPr>
        <p:spPr>
          <a:xfrm>
            <a:off x="1550564" y="1946787"/>
            <a:ext cx="9520559" cy="4089437"/>
          </a:xfrm>
        </p:spPr>
        <p: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meaningful insights into customer purchase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Supports data-driven decision-making using analytics .</a:t>
            </a:r>
          </a:p>
          <a:p>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Key Deliverables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Cleaned and processed customer dataset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Customer segmentation and analysis results.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Visualization dashboards (charts &amp; graphs)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Python notebook with complete workflow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Final project report and documentation .</a:t>
            </a:r>
          </a:p>
        </p:txBody>
      </p:sp>
      <p:sp>
        <p:nvSpPr>
          <p:cNvPr id="2" name="Slide Number Placeholder 1">
            <a:extLst>
              <a:ext uri="{FF2B5EF4-FFF2-40B4-BE49-F238E27FC236}">
                <a16:creationId xmlns:a16="http://schemas.microsoft.com/office/drawing/2014/main" id="{993D37C3-E1D0-CEF7-0A9B-6554112088C1}"/>
              </a:ext>
            </a:extLst>
          </p:cNvPr>
          <p:cNvSpPr>
            <a:spLocks noGrp="1"/>
          </p:cNvSpPr>
          <p:nvPr>
            <p:ph type="sldNum" sz="quarter" idx="10"/>
          </p:nvPr>
        </p:nvSpPr>
        <p:spPr>
          <a:xfrm>
            <a:off x="10358437" y="457199"/>
            <a:ext cx="1067589" cy="471489"/>
          </a:xfrm>
        </p:spPr>
        <p:txBody>
          <a:bodyPr/>
          <a:lstStyle/>
          <a:p>
            <a:endParaRPr lang="en-US" dirty="0"/>
          </a:p>
        </p:txBody>
      </p:sp>
    </p:spTree>
    <p:extLst>
      <p:ext uri="{BB962C8B-B14F-4D97-AF65-F5344CB8AC3E}">
        <p14:creationId xmlns:p14="http://schemas.microsoft.com/office/powerpoint/2010/main" val="1812678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36ACB-CECC-D7DE-6125-0D0E73180B62}"/>
              </a:ext>
            </a:extLst>
          </p:cNvPr>
          <p:cNvSpPr>
            <a:spLocks noGrp="1"/>
          </p:cNvSpPr>
          <p:nvPr>
            <p:ph type="title"/>
          </p:nvPr>
        </p:nvSpPr>
        <p:spPr>
          <a:xfrm>
            <a:off x="3459777" y="692943"/>
            <a:ext cx="7965461" cy="994164"/>
          </a:xfrm>
        </p:spPr>
        <p:txBody>
          <a:bodyPr/>
          <a:lstStyle/>
          <a:p>
            <a:pPr algn="ctr"/>
            <a:r>
              <a:rPr lang="en-US" dirty="0"/>
              <a:t>IMPLEMENTATION</a:t>
            </a:r>
            <a:endParaRPr lang="en-IN" dirty="0"/>
          </a:p>
        </p:txBody>
      </p:sp>
      <p:graphicFrame>
        <p:nvGraphicFramePr>
          <p:cNvPr id="5" name="Content Placeholder 4">
            <a:extLst>
              <a:ext uri="{FF2B5EF4-FFF2-40B4-BE49-F238E27FC236}">
                <a16:creationId xmlns:a16="http://schemas.microsoft.com/office/drawing/2014/main" id="{45CE0ECB-87BB-2665-3634-C98D6B346BD7}"/>
              </a:ext>
            </a:extLst>
          </p:cNvPr>
          <p:cNvGraphicFramePr>
            <a:graphicFrameLocks noGrp="1"/>
          </p:cNvGraphicFramePr>
          <p:nvPr>
            <p:ph sz="half" idx="2"/>
            <p:extLst>
              <p:ext uri="{D42A27DB-BD31-4B8C-83A1-F6EECF244321}">
                <p14:modId xmlns:p14="http://schemas.microsoft.com/office/powerpoint/2010/main" val="1859450462"/>
              </p:ext>
            </p:extLst>
          </p:nvPr>
        </p:nvGraphicFramePr>
        <p:xfrm>
          <a:off x="3460750" y="2303463"/>
          <a:ext cx="7964488" cy="34972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A11C4427-1B77-9E70-5266-EF6A2DB35A5B}"/>
              </a:ext>
            </a:extLst>
          </p:cNvPr>
          <p:cNvSpPr>
            <a:spLocks noGrp="1"/>
          </p:cNvSpPr>
          <p:nvPr>
            <p:ph type="sldNum" sz="quarter" idx="10"/>
          </p:nvPr>
        </p:nvSpPr>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3341994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0EF9A4-9E87-CB13-77F4-B48B34527C1A}"/>
              </a:ext>
            </a:extLst>
          </p:cNvPr>
          <p:cNvSpPr>
            <a:spLocks noGrp="1"/>
          </p:cNvSpPr>
          <p:nvPr>
            <p:ph type="sldNum" sz="quarter" idx="12"/>
          </p:nvPr>
        </p:nvSpPr>
        <p:spPr/>
        <p:txBody>
          <a:bodyPr/>
          <a:lstStyle/>
          <a:p>
            <a:fld id="{48F63A3B-78C7-47BE-AE5E-E10140E04643}" type="slidenum">
              <a:rPr lang="en-US" smtClean="0"/>
              <a:pPr/>
              <a:t>13</a:t>
            </a:fld>
            <a:endParaRPr lang="en-US" dirty="0"/>
          </a:p>
        </p:txBody>
      </p:sp>
      <p:pic>
        <p:nvPicPr>
          <p:cNvPr id="4" name="Picture 3">
            <a:extLst>
              <a:ext uri="{FF2B5EF4-FFF2-40B4-BE49-F238E27FC236}">
                <a16:creationId xmlns:a16="http://schemas.microsoft.com/office/drawing/2014/main" id="{01F056EA-F92D-3F3D-1920-37C5BA369243}"/>
              </a:ext>
            </a:extLst>
          </p:cNvPr>
          <p:cNvPicPr>
            <a:picLocks noChangeAspect="1"/>
          </p:cNvPicPr>
          <p:nvPr/>
        </p:nvPicPr>
        <p:blipFill>
          <a:blip r:embed="rId2"/>
          <a:stretch>
            <a:fillRect/>
          </a:stretch>
        </p:blipFill>
        <p:spPr>
          <a:xfrm>
            <a:off x="762000" y="701702"/>
            <a:ext cx="10951029" cy="5895041"/>
          </a:xfrm>
          <a:prstGeom prst="rect">
            <a:avLst/>
          </a:prstGeom>
        </p:spPr>
      </p:pic>
    </p:spTree>
    <p:extLst>
      <p:ext uri="{BB962C8B-B14F-4D97-AF65-F5344CB8AC3E}">
        <p14:creationId xmlns:p14="http://schemas.microsoft.com/office/powerpoint/2010/main" val="794555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835743" y="1656028"/>
            <a:ext cx="5715000" cy="2579218"/>
          </a:xfrm>
        </p:spPr>
        <p:txBody>
          <a:bodyPr/>
          <a:lstStyle/>
          <a:p>
            <a:pPr algn="ctr"/>
            <a:r>
              <a:rPr lang="en-US" sz="5000" dirty="0"/>
              <a:t>Thank </a:t>
            </a:r>
            <a:br>
              <a:rPr lang="en-US" sz="5000" dirty="0"/>
            </a:br>
            <a:r>
              <a:rPr lang="en-US" sz="5000" dirty="0"/>
              <a:t>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{52320150-97A6-4A8B-B6EE-9245369AD676}TF8a9b5915-b8c7-461e-8cdd-693d48b5e32371f7b7e2_win32-4bf0b9a2ea37</Template>
  <TotalTime>149</TotalTime>
  <Words>609</Words>
  <Application>Microsoft Office PowerPoint</Application>
  <PresentationFormat>Widescreen</PresentationFormat>
  <Paragraphs>82</Paragraphs>
  <Slides>14</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Calibri</vt:lpstr>
      <vt:lpstr>Sabon Next LT</vt:lpstr>
      <vt:lpstr>Times New Roman</vt:lpstr>
      <vt:lpstr>Custom</vt:lpstr>
      <vt:lpstr>Smart Customer Purchase Analytics &amp; Recommendation System</vt:lpstr>
      <vt:lpstr>Introduction</vt:lpstr>
      <vt:lpstr>ABSTRACT</vt:lpstr>
      <vt:lpstr>PowerPoint Presentation</vt:lpstr>
      <vt:lpstr>PowerPoint Presentation</vt:lpstr>
      <vt:lpstr>Objectives</vt:lpstr>
      <vt:lpstr>Literature Survey</vt:lpstr>
      <vt:lpstr>Proposed Solution</vt:lpstr>
      <vt:lpstr>Methedology</vt:lpstr>
      <vt:lpstr>PowerPoint Presentation</vt:lpstr>
      <vt:lpstr>Expected Results &amp; Deliverables</vt:lpstr>
      <vt:lpstr>IMPLEMENTATION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Sachita Limaye</dc:creator>
  <cp:lastModifiedBy>venkata sree padmaja</cp:lastModifiedBy>
  <cp:revision>3</cp:revision>
  <dcterms:created xsi:type="dcterms:W3CDTF">2026-02-19T07:02:51Z</dcterms:created>
  <dcterms:modified xsi:type="dcterms:W3CDTF">2026-04-10T12:54:08Z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